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5" r:id="rId2"/>
    <p:sldId id="327" r:id="rId3"/>
    <p:sldId id="328" r:id="rId4"/>
    <p:sldId id="343" r:id="rId5"/>
    <p:sldId id="330" r:id="rId6"/>
    <p:sldId id="331" r:id="rId7"/>
    <p:sldId id="332" r:id="rId8"/>
    <p:sldId id="333" r:id="rId9"/>
    <p:sldId id="342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4" r:id="rId19"/>
    <p:sldId id="345" r:id="rId20"/>
    <p:sldId id="356" r:id="rId21"/>
    <p:sldId id="358" r:id="rId22"/>
    <p:sldId id="357" r:id="rId23"/>
    <p:sldId id="359" r:id="rId24"/>
    <p:sldId id="360" r:id="rId25"/>
    <p:sldId id="361" r:id="rId26"/>
    <p:sldId id="362" r:id="rId27"/>
    <p:sldId id="366" r:id="rId28"/>
    <p:sldId id="365" r:id="rId29"/>
    <p:sldId id="363" r:id="rId30"/>
    <p:sldId id="364" r:id="rId31"/>
    <p:sldId id="367" r:id="rId32"/>
    <p:sldId id="346" r:id="rId33"/>
    <p:sldId id="349" r:id="rId34"/>
    <p:sldId id="350" r:id="rId35"/>
    <p:sldId id="351" r:id="rId36"/>
    <p:sldId id="352" r:id="rId37"/>
    <p:sldId id="353" r:id="rId38"/>
    <p:sldId id="354" r:id="rId39"/>
    <p:sldId id="355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" initials="d" lastIdx="4" clrIdx="0">
    <p:extLst>
      <p:ext uri="{19B8F6BF-5375-455C-9EA6-DF929625EA0E}">
        <p15:presenceInfo xmlns:p15="http://schemas.microsoft.com/office/powerpoint/2012/main" userId="den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1067" autoAdjust="0"/>
  </p:normalViewPr>
  <p:slideViewPr>
    <p:cSldViewPr snapToGrid="0">
      <p:cViewPr>
        <p:scale>
          <a:sx n="66" d="100"/>
          <a:sy n="66" d="100"/>
        </p:scale>
        <p:origin x="96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D69FA-B6E1-4C04-9B9E-4B04BF1ACFEB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61C37-7491-49FC-AF03-1617C0170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0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272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07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cookies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- текстовые данные, сохраняемые браузером на компьютере клиента, которые чаще всего содержат параметры доступа (логин и пароль) или персональные настройки пользователя.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Cookies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формируются браузером и автоматически, в ходе каждого удаленного обращения пересылаются серверу в заголовках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запроса.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361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121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890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31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896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625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293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00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417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511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578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179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2548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458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030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63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977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603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244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2548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B61C37-7491-49FC-AF03-1617C0170EF4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35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DED64C-7D55-46D9-9B30-753F7B80C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ED7BEE-1591-46EC-A2C0-B3E4C0CBC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901D5E-9823-400F-851C-8097B263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48D51A-D459-4828-BC2A-46BC011B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74D37E-6022-4644-9496-EB68613B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06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B3638-6484-49E1-A6B4-D763C7C5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DAB26-FD0A-45DE-8776-E998C153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48B4D0-5056-4A9B-A9F3-1EBBC516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708766-6C50-43B7-A5D1-66A0C740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2A541-FF4D-49B0-9DE6-DFFB9A6C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44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FA370-1460-4110-B682-DE3542E2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C86A7B-B9F8-44F0-B6B4-2F9A076DF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EDE4B-956A-45E0-9C8C-FDDB85E1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DEE3E-E23C-414D-9D74-BBF2D2ED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AD95D-7E84-4D0A-9BCA-56CDC51E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80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8F860-93CF-4604-B709-FCF95B51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D1AC92-4C5B-471E-9E25-2A6DC114F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DCA692-3253-4AF9-AE47-134E52A3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A5F86F-635C-4964-BD51-34290337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D49032-64DD-46A0-BAE3-46093336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6DE280-D0A1-4873-BDEE-2062DA26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733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7BF69-6B77-4C88-A6A1-76C3515B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6F6260-F48B-406D-9544-8E81BC3B2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B39D7-2CC2-4AEC-99AE-4E4DE9BD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C69BE8-CA1C-41B9-9222-9930110A4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82C6EB-0FBB-4A2F-9717-151D1208C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F998F1D-F4D3-4DD7-BE3D-A3685E55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569960-6DF1-4D8B-938B-37A44E48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70C7907-F095-4976-A2B1-62896FD8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2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DCFA1-D37A-4571-B69E-CC588A62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FB7A26-CF79-4D2B-B94B-23E6E45B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2B9E35-6848-470E-B46E-8412E383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A39DFA-834F-4CE2-A409-7930AD33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2DBB04-3CE0-432F-8661-F0693287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3E1C80-9416-4708-8EE1-08411AFF9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E53D2-77F2-4C64-87E5-80A44774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0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69E3A-0BF0-43CD-9171-1BE715AC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102653-6B01-491C-BAA1-16F7F105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6806A8-84E5-461F-84AB-18772BB78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4ABDCF-48B1-476C-8217-9B3503F6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C6ADEB-CC2E-400E-89C9-8E737D02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498A93-99D3-42D0-BA63-4F1A8C4F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1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D76E7-7275-4F50-9DE7-D48C4A856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D749E-5430-4F4C-99C8-56E16855B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D4950-AEB0-4473-8900-86C8468E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A972C5-CFF9-4F10-A7C5-0D26092C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C3B07C-85C0-4F55-AC3F-7E3A015A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09A27C-032D-4DDC-A8FE-EADFF73B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24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5789F-4826-42F7-A25C-D4EAF22E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F02524-4674-40B5-935B-C1191BB81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D9C3B4-2737-4BE8-8F1F-615CEB5D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FA69DF-6AA0-4DDF-837D-B37046C5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A6CE5-50DB-4FFA-A1CC-125D7A89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6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9D8BAC-B05F-4BA3-8C7E-BC1ED6E3D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0C72AF-D3C2-402B-A5E3-F1BB655FA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C89A6A-7B9C-4394-B99D-76B9FACF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F310B-761A-4453-9F30-F9AF5B6F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C8658-5B8A-4CE7-BBBF-943BCDDD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7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8E016-39DF-45F1-9253-39332520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014186-597F-4B69-B16A-F3B56CD4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6E55D-2149-4A74-9195-E47B8773E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520EA-350A-472A-A5FC-125ACB41AE55}" type="datetimeFigureOut">
              <a:rPr lang="ru-RU" smtClean="0"/>
              <a:t>15.05.2019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65B33A-5856-496F-AFC2-8270FC7EB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F24F38-6D06-40E3-9912-0FE52FF8C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76C88-0A85-438D-B67D-F0BA3E6C44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5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e-learning.istu.ru/theme/image.php?theme=more&amp;amp;component=core&amp;amp;rev=1505284807&amp;amp;image=spacer">
            <a:extLst>
              <a:ext uri="{FF2B5EF4-FFF2-40B4-BE49-F238E27FC236}">
                <a16:creationId xmlns:a16="http://schemas.microsoft.com/office/drawing/2014/main" id="{04D77418-8DC5-482A-9722-685264E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-27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928568" y="509884"/>
            <a:ext cx="104682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Программирование для Интернет</a:t>
            </a:r>
            <a:endParaRPr lang="ru-RU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1009B-99B0-4A34-BBFB-AB713D13F511}"/>
              </a:ext>
            </a:extLst>
          </p:cNvPr>
          <p:cNvSpPr/>
          <p:nvPr/>
        </p:nvSpPr>
        <p:spPr>
          <a:xfrm>
            <a:off x="439879" y="1741285"/>
            <a:ext cx="11252557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Лекция </a:t>
            </a: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6. Язык </a:t>
            </a:r>
            <a:r>
              <a:rPr 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PHP</a:t>
            </a: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для разработки </a:t>
            </a: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веб-приложений</a:t>
            </a:r>
            <a:endParaRPr lang="en-US" sz="3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4F764F-44B3-405F-962C-BE9BBA9634EE}"/>
              </a:ext>
            </a:extLst>
          </p:cNvPr>
          <p:cNvSpPr/>
          <p:nvPr/>
        </p:nvSpPr>
        <p:spPr>
          <a:xfrm>
            <a:off x="439879" y="2445146"/>
            <a:ext cx="11145925" cy="33239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Содержание лекции: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Определение </a:t>
            </a:r>
            <a:r>
              <a:rPr lang="en-US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PHP</a:t>
            </a:r>
            <a:endParaRPr lang="ru-RU" sz="30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Основы программирования на </a:t>
            </a:r>
            <a:r>
              <a:rPr lang="en-US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PHP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Обработка HTTP запросов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ООП в </a:t>
            </a:r>
            <a:r>
              <a:rPr lang="en-US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PHP</a:t>
            </a:r>
            <a:endParaRPr lang="en-US" sz="30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Работа </a:t>
            </a: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 базой данных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Работа с </a:t>
            </a:r>
            <a:r>
              <a:rPr lang="en-US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cookie</a:t>
            </a:r>
            <a:r>
              <a:rPr lang="ru-RU" sz="3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и сессиями</a:t>
            </a:r>
            <a:endParaRPr lang="ru-RU" sz="3000" b="1" dirty="0" smtClean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3322B3-FD41-4BBC-89C6-20CAA8F79712}"/>
              </a:ext>
            </a:extLst>
          </p:cNvPr>
          <p:cNvSpPr/>
          <p:nvPr/>
        </p:nvSpPr>
        <p:spPr>
          <a:xfrm>
            <a:off x="249610" y="6236473"/>
            <a:ext cx="938058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Преподаватель курса: Нефедов Денис Геннадьевич, к.т.н., доцент</a:t>
            </a:r>
          </a:p>
        </p:txBody>
      </p:sp>
    </p:spTree>
    <p:extLst>
      <p:ext uri="{BB962C8B-B14F-4D97-AF65-F5344CB8AC3E}">
        <p14:creationId xmlns:p14="http://schemas.microsoft.com/office/powerpoint/2010/main" val="188942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3990561" y="56779"/>
            <a:ext cx="42108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Определение 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PHP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91737" y="764665"/>
            <a:ext cx="11242764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PHP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Hypertext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PreProcessor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 – один из самых популярных инструментов веб-программирования на стороне сервера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60363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PHP в самом простом варианте сводится к обработке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запроса клиента. Обработка запроса, в свою очередь, заключается в программном формировании гипертекста в соответствии с параметрами запроса, после чего полученная разметка возвращается клиенту. Когда клиент (интернет браузер) запрашивает обычную статическую интернет страницу (чаще всего с расширением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), сервер в качестве ответа возвращает ему содержимое этой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страниц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ы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без изменений “как есть”. Если запрашивается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страница, то в процессе обработки запроса содержимое указанной страницы сначала обрабатывается интерпретатором PHP, и только потом результат этой обработки отправляется клиенту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360363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PHP – это </a:t>
            </a:r>
            <a:r>
              <a:rPr lang="ru-RU" sz="2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препроцессор гипертекста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означающий, что окончательной обработке гипертекст подвергается уже на стороне клиента, результат которой мы видим в окне браузера (</a:t>
            </a:r>
            <a:r>
              <a:rPr lang="ru-RU" sz="2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процессором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гипертекста является уже сам браузер).</a:t>
            </a:r>
          </a:p>
          <a:p>
            <a:pPr indent="360363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Можно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сказать, что PHP – это генератор гипертекста, поскольку в большинстве случаев его работа – это программная генерация HTML разметки по содержимому базы данных или по любой другой структурированной информации, размещенной на сервере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47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49770" y="209784"/>
            <a:ext cx="1153743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Первоначально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PHP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расшифровывалась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Personal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Home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Page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Tools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инструментарий для создания персональных интернет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страниц, что отражало его назначение, нынешнее обозначение отображает принцип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PHP – это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язык программирования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который поддерживает практически все основные конструкции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процедурного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программирования: переменные, условные операторы, циклы, функции и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т.д.</a:t>
            </a:r>
          </a:p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PHP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это о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бъектно-ориентированный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язык программирования – он поддерживает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классы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объекты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 также привычное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наследование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 уровне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классов.</a:t>
            </a:r>
          </a:p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PHP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это язык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веб-программирования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поскольку он в первую очередь создан для разработки динамических интернет сайтов и поэтому содержит большое количество готовых решений, применяемых в этой сфере, таких как: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обработка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извлечение параметров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запросов GET и POST;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формирование и отправка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заголовков;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инфраструктура для хранения данных сеанса;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программные сервисы для работы с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cookies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базами данных посредствам SQL запросов;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поддержка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регулярных выражений;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поддержка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HTTP авторизации;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обмен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сообщениями по электронной почте и многое другое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34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65612" y="166526"/>
            <a:ext cx="11621588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2425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Главная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область применения PHP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написание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скриптов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работающих на стороне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сервера, PHP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способен выполнять все то, что выполняет любая другая программа CGI, например, обрабатывать данные форм, генерировать динамические страницы или отсылать и принимать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52425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этого вам будут необходимы три вещи. Интерпретатор PHP (в виде программы CGI или серверного модуля), веб-сервер и браузер. Для того чтобы можно было просматривать результаты выполнения PHP-скриптов в браузере, нужен работающий веб-сервер и установленный PHP. Просмотреть вывод PHP-программы можно в браузере, получив PHP-страницу, сгенерированную сервером. В случае, если вы просто экспериментируете, вы вполне можете использовать свой домашний компьютер вместо сервера. 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52425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PHP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код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может внедряться непосредственно в HTML.</a:t>
            </a:r>
          </a:p>
          <a:p>
            <a:pPr indent="352425"/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65612" y="3748408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&lt;html&gt;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&lt;head&gt;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&lt;title&gt;</a:t>
            </a:r>
            <a:r>
              <a:rPr lang="ru-RU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Тестируем </a:t>
            </a:r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PHP&lt;/title&gt;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&lt;/head&gt;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&lt;body&gt;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latin typeface="Menlo"/>
              </a:rPr>
              <a:t>&lt;?</a:t>
            </a:r>
            <a:r>
              <a:rPr lang="en-US" dirty="0" err="1">
                <a:solidFill>
                  <a:srgbClr val="880000"/>
                </a:solidFill>
                <a:latin typeface="Menlo"/>
              </a:rPr>
              <a:t>php</a:t>
            </a:r>
            <a:r>
              <a:rPr lang="en-US" dirty="0">
                <a:solidFill>
                  <a:srgbClr val="880000"/>
                </a:solidFill>
                <a:latin typeface="Menlo"/>
              </a:rPr>
              <a:t> echo '&lt;p&gt;</a:t>
            </a:r>
            <a:r>
              <a:rPr lang="ru-RU" dirty="0">
                <a:solidFill>
                  <a:srgbClr val="880000"/>
                </a:solidFill>
                <a:latin typeface="Menlo"/>
              </a:rPr>
              <a:t>Привет, мир!&lt;/</a:t>
            </a:r>
            <a:r>
              <a:rPr lang="en-US" dirty="0">
                <a:solidFill>
                  <a:srgbClr val="880000"/>
                </a:solidFill>
                <a:latin typeface="Menlo"/>
              </a:rPr>
              <a:t>p&gt;'; ?&gt;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&lt;/body&gt;</a:t>
            </a:r>
          </a:p>
          <a:p>
            <a:r>
              <a:rPr lang="en-US" sz="2000" dirty="0">
                <a:solidFill>
                  <a:srgbClr val="2F559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&lt;/html&gt;</a:t>
            </a:r>
            <a:endParaRPr lang="ru-RU" sz="2000" dirty="0">
              <a:solidFill>
                <a:srgbClr val="2F5597"/>
              </a:solidFill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6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2045860" y="56779"/>
            <a:ext cx="81002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Основы программирования на 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PHP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291737" y="1244346"/>
            <a:ext cx="11242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Программный код PHP добавляется непосредственно в любое место HTML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разметки, либо без нее. Для вставки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PHP нужно использовать специальный тег и внутри него размещать текст программы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19593" y="2319969"/>
            <a:ext cx="109149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ru-RU" dirty="0" smtClean="0">
                <a:solidFill>
                  <a:srgbClr val="001080"/>
                </a:solidFill>
                <a:latin typeface="Consolas" panose="020B0609020204030204" pitchFamily="49" charset="0"/>
              </a:rPr>
              <a:t>   Текст программы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91737" y="3263718"/>
            <a:ext cx="1110271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вывода результата работы препроцессора используется оператор 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echo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аргументами которого могут быть константы, переменные, функции или различного рода выражения, а результатом – текст. 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19592" y="4453832"/>
            <a:ext cx="107748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ru-RU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"&lt;h1&gt;данная разметка сформирована 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</a:rPr>
              <a:t>программно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 интерпретатором PHP.&lt;/h1&gt;"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99404" y="815054"/>
            <a:ext cx="4557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Добавление в </a:t>
            </a:r>
            <a:r>
              <a:rPr lang="ru-RU" sz="2000" b="1" i="1" dirty="0" smtClean="0">
                <a:solidFill>
                  <a:srgbClr val="000000"/>
                </a:solidFill>
                <a:latin typeface="Arial" panose="020B0604020202020204" pitchFamily="34" charset="0"/>
              </a:rPr>
              <a:t>разметку </a:t>
            </a:r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кода PHP</a:t>
            </a:r>
            <a:endParaRPr lang="ru-RU" sz="2000" b="1" i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984" y="5375423"/>
            <a:ext cx="6308125" cy="126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19591" y="195997"/>
            <a:ext cx="95265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Организация приложения из нескольких файлов PHP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91736" y="540774"/>
            <a:ext cx="11595463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подключения внешнего файла 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имеются две инструкции 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require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 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include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Инструкция 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require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вставляет содержимое указанного файла до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начала обработки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программного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кода интерпретатором PHP, а инструкция 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включает его в процессе обработки – когда интерпретатор дойдет до соответствующей строки в программе.</a:t>
            </a: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61338"/>
              </p:ext>
            </p:extLst>
          </p:nvPr>
        </p:nvGraphicFramePr>
        <p:xfrm>
          <a:off x="619589" y="2098761"/>
          <a:ext cx="11117708" cy="4628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8854">
                  <a:extLst>
                    <a:ext uri="{9D8B030D-6E8A-4147-A177-3AD203B41FA5}">
                      <a16:colId xmlns:a16="http://schemas.microsoft.com/office/drawing/2014/main" val="3227720847"/>
                    </a:ext>
                  </a:extLst>
                </a:gridCol>
                <a:gridCol w="5558854">
                  <a:extLst>
                    <a:ext uri="{9D8B030D-6E8A-4147-A177-3AD203B41FA5}">
                      <a16:colId xmlns:a16="http://schemas.microsoft.com/office/drawing/2014/main" val="1142981240"/>
                    </a:ext>
                  </a:extLst>
                </a:gridCol>
              </a:tblGrid>
              <a:tr h="372264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require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include</a:t>
                      </a:r>
                      <a:endParaRPr lang="ru-RU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115079"/>
                  </a:ext>
                </a:extLst>
              </a:tr>
              <a:tr h="2616646">
                <a:tc>
                  <a:txBody>
                    <a:bodyPr/>
                    <a:lstStyle/>
                    <a:p>
                      <a:endParaRPr lang="ru-RU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649356"/>
                  </a:ext>
                </a:extLst>
              </a:tr>
              <a:tr h="1554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Если файл, на который ссылается инструкция </a:t>
                      </a:r>
                      <a:r>
                        <a:rPr lang="ru-RU" sz="20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</a:t>
                      </a:r>
                      <a:r>
                        <a:rPr lang="ru-RU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недоступен, то дальнейшая обработка страницы завершается.</a:t>
                      </a:r>
                    </a:p>
                    <a:p>
                      <a:endParaRPr lang="ru-RU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Обработка недоступного файла просто пропускается, и продолжается обработка оставшегося PHP кода.</a:t>
                      </a:r>
                    </a:p>
                    <a:p>
                      <a:endParaRPr lang="ru-RU" sz="20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56224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784483" y="2561578"/>
            <a:ext cx="356266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require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header.php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require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side_left.php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разметка основной области</a:t>
            </a:r>
          </a:p>
          <a:p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require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side_right.php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require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footer.php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353901" y="2726468"/>
            <a:ext cx="43190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$pass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login.php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fail.php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76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9018" y="201330"/>
            <a:ext cx="32431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Переменные и функции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04799" y="570662"/>
            <a:ext cx="11702321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60363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PHP – это язык программирования с </a:t>
            </a:r>
            <a:r>
              <a:rPr lang="ru-RU" alt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динамической типизацией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(поздним связыванием), а значит, как и в случае с </a:t>
            </a:r>
            <a:r>
              <a:rPr lang="ru-RU" alt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JavaScript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тип переменной не указывается явно, а определяется в момент присвоения ей значения. Имена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переменных начинаются с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символа </a:t>
            </a:r>
            <a:r>
              <a:rPr lang="ru-RU" altLang="ru-RU" sz="2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$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indent="360363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Определение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функции в PHP ничем особым от других процедурных языков не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отличается:</a:t>
            </a:r>
          </a:p>
          <a:p>
            <a:pPr lvl="0" indent="360363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имя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список аргументов, тело функции и инструкция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для возврата результата.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62586" y="247648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$arg1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$arg2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…)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тело функции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return_value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04799" y="4533559"/>
            <a:ext cx="117023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 переменные, описанные во всех подключенных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файлах и находящихся вне каких либо функций, являются глобальными, а значит, доступны из любого места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скрипта.</a:t>
            </a:r>
          </a:p>
          <a:p>
            <a:pPr indent="360363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Любая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переменная, описанная в контексте функции, является локальной по отношению к ней.</a:t>
            </a:r>
          </a:p>
        </p:txBody>
      </p:sp>
    </p:spTree>
    <p:extLst>
      <p:ext uri="{BB962C8B-B14F-4D97-AF65-F5344CB8AC3E}">
        <p14:creationId xmlns:p14="http://schemas.microsoft.com/office/powerpoint/2010/main" val="269013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04800" y="144910"/>
            <a:ext cx="1153743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Иногда не все параметры, необходимые для работы функции, в силу различных обстоятельств, определяют в качестве ее аргументов.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Чтобы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обратиться из функции к значению любой глобальной переменной, достаточно определить на нее ссылку с использованием ключевого слова </a:t>
            </a:r>
            <a:r>
              <a:rPr lang="ru-RU" alt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global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04800" y="155366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Определение глобальных переменных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//y(x)=|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kx+b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|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Обращение к глобальным переменным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global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Определение локальной переменной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Вызов функции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94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327098" y="223791"/>
            <a:ext cx="6366438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PHP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поддерживает восемь простых типов данных</a:t>
            </a:r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  <a:endParaRPr lang="en-US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spcBef>
                <a:spcPts val="600"/>
              </a:spcBef>
            </a:pPr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Четыре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скалярных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 типа:</a:t>
            </a: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двоичные данные) </a:t>
            </a:r>
            <a:b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integer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целые числа) </a:t>
            </a:r>
            <a:b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float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числа с плавающей точкой или '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double') </a:t>
            </a:r>
            <a:b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- string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строки</a:t>
            </a:r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endParaRPr lang="ru-RU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27098" y="2178172"/>
            <a:ext cx="4345578" cy="2077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Два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смешанных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 типа:</a:t>
            </a: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array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массивы)</a:t>
            </a:r>
            <a:b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object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объекты)</a:t>
            </a:r>
          </a:p>
          <a:p>
            <a:pPr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И два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специальных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 типа: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resource (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ресурсы)</a:t>
            </a:r>
            <a:b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NULL ("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пустые")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27098" y="422249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Boolean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Integer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Переменная содержит текст"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Значение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String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$string2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"5425"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String,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так как число взято в кавычки !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44.122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Float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81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63606" y="141370"/>
            <a:ext cx="23405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Операторы </a:t>
            </a:r>
            <a:r>
              <a:rPr lang="en-US" sz="2000" b="1" i="1" dirty="0">
                <a:solidFill>
                  <a:srgbClr val="000000"/>
                </a:solidFill>
                <a:latin typeface="Arial" panose="020B0604020202020204" pitchFamily="34" charset="0"/>
              </a:rPr>
              <a:t>PHP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79750" y="510702"/>
            <a:ext cx="1150744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Синтаксис PHP практически во всем заимствует синтаксические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конструкции C/C++,  C#,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других "C-образных" языков программирования. 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60363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Основные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операторы или команды препроцессора гипертекста (в квадратных скобках необязательные части конструкций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indent="360363"/>
            <a:r>
              <a:rPr lang="ru-RU" b="1" dirty="0" smtClean="0">
                <a:latin typeface="Arial" panose="020B0604020202020204" pitchFamily="34" charset="0"/>
                <a:cs typeface="Arial" panose="020B0604020202020204" pitchFamily="34" charset="0"/>
              </a:rPr>
              <a:t>- Условный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72417" y="2141918"/>
            <a:ext cx="49938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(выражение)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оператор “если истина”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elseif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(альтернативное выражение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оператор “альтернативный условие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”]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elseif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(альтернативное выражение n)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оператор “альтернативный условие n”]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оператор “иначе”]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79750" y="4450242"/>
            <a:ext cx="116573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логических выражениях поддерживаются следующие операторы сравнения: равенство ==, строго меньше и строго больше &lt;, &gt;; нестрогие варианты &lt;=, &gt;=; и неравенство != или &lt;&gt;. Логические операторы обозначаются следующим образом: “И”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или &amp;&amp;; “ИЛИ”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или ||. </a:t>
            </a:r>
          </a:p>
        </p:txBody>
      </p:sp>
    </p:spTree>
    <p:extLst>
      <p:ext uri="{BB962C8B-B14F-4D97-AF65-F5344CB8AC3E}">
        <p14:creationId xmlns:p14="http://schemas.microsoft.com/office/powerpoint/2010/main" val="293738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94740" y="220547"/>
            <a:ext cx="1131257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- Краткий условный или тернарный оператор</a:t>
            </a:r>
          </a:p>
          <a:p>
            <a:pPr algn="just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Общий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вид условного оператора присваивания с использованием тернарного оператора: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24459" y="1037192"/>
            <a:ext cx="1088285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rgbClr val="333333"/>
                </a:solidFill>
                <a:latin typeface="Courier New" panose="02070309020205020404" pitchFamily="49" charset="0"/>
              </a:rPr>
              <a:t>$результат = условие ? выражение если </a:t>
            </a:r>
            <a:r>
              <a:rPr lang="ru-RU" sz="2100" dirty="0" err="1">
                <a:solidFill>
                  <a:srgbClr val="333333"/>
                </a:solidFill>
                <a:latin typeface="Courier New" panose="02070309020205020404" pitchFamily="49" charset="0"/>
              </a:rPr>
              <a:t>true</a:t>
            </a:r>
            <a:r>
              <a:rPr lang="ru-RU" sz="2100" dirty="0">
                <a:solidFill>
                  <a:srgbClr val="333333"/>
                </a:solidFill>
                <a:latin typeface="Courier New" panose="02070309020205020404" pitchFamily="49" charset="0"/>
              </a:rPr>
              <a:t> : выражение если </a:t>
            </a:r>
            <a:r>
              <a:rPr lang="ru-RU" sz="2100" dirty="0" err="1">
                <a:solidFill>
                  <a:srgbClr val="333333"/>
                </a:solidFill>
                <a:latin typeface="Courier New" panose="02070309020205020404" pitchFamily="49" charset="0"/>
              </a:rPr>
              <a:t>false</a:t>
            </a:r>
            <a:r>
              <a:rPr lang="ru-RU" sz="2100" dirty="0">
                <a:solidFill>
                  <a:srgbClr val="333333"/>
                </a:solidFill>
                <a:latin typeface="Courier New" panose="02070309020205020404" pitchFamily="49" charset="0"/>
              </a:rPr>
              <a:t>;</a:t>
            </a:r>
            <a:endParaRPr lang="ru-RU" sz="21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24459" y="1931020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?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94740" y="1452690"/>
            <a:ext cx="113125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94740" y="2377057"/>
            <a:ext cx="113125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 a больше 5, то переменной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присваивается значение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a+b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иначе a-b. 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394740" y="2853872"/>
            <a:ext cx="115224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- Оператор выбора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000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altLang="ru-RU" sz="2000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льтернатива </a:t>
            </a:r>
            <a:r>
              <a:rPr lang="ru-RU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altLang="ru-RU" sz="200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ru-RU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большим количеством конструкций </a:t>
            </a:r>
            <a:r>
              <a:rPr lang="ru-RU" altLang="ru-RU" sz="200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elseif</a:t>
            </a:r>
            <a:r>
              <a:rPr lang="ru-RU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ru-R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24459" y="330142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switch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(выражение)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значение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: оператор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 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;]</a:t>
            </a:r>
          </a:p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значение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: оператор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 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;]</a:t>
            </a:r>
          </a:p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значение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: оператор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 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;]</a:t>
            </a:r>
          </a:p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: оператор, выполняемый “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по-умолчанию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”; [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;]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94740" y="5698811"/>
            <a:ext cx="2603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- Цикл перебора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824458" y="6098921"/>
            <a:ext cx="108828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(начальное выражение; конечное выражение; приращение)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тело цикла;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11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8327" y="156360"/>
            <a:ext cx="3639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- Цикл с предусловием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46688" y="1472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условие)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тело цикла;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52563" y="1446852"/>
            <a:ext cx="113125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Пример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88325" y="1001661"/>
            <a:ext cx="4274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- Цикл с постусловием DO ... WHILE</a:t>
            </a: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6083147" y="77280"/>
            <a:ext cx="25705" cy="30263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12696" rIns="12696" bIns="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5046688" y="968545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do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тело цикла; </a:t>
            </a:r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(условие); 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44641" y="189204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do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"!="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288325" y="4236070"/>
            <a:ext cx="85094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- Перебор элементов в массиве или оператор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544641" y="4681261"/>
            <a:ext cx="75500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AF00DB"/>
                </a:solidFill>
                <a:latin typeface="Consolas" panose="020B0609020204030204" pitchFamily="49" charset="0"/>
              </a:rPr>
              <a:t>foreach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(массив 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as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$элемент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выражение, где что-то делаем с переменной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$элемент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65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7959" y="201331"/>
            <a:ext cx="13628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</a:rPr>
              <a:t>Массивы</a:t>
            </a:r>
            <a:endParaRPr lang="ru-RU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7958" y="601441"/>
            <a:ext cx="115992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PHP не нужно заботиться о выделении и об освобождении памяти под переменные, в том числе и под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массивы. Примеры создания массивов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84536" y="1340105"/>
            <a:ext cx="62632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$symbols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"g"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"d</a:t>
            </a:r>
            <a:r>
              <a:rPr lang="en-US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$symbols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$symbols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$symbols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;…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7957" y="2067925"/>
            <a:ext cx="115992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Индексы массива можно также задать самостоятельно, и они могут быть не только целочисленными, но и строковыми: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84536" y="27758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//Кодировка символов ASCII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$codes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]=</a:t>
            </a:r>
            <a:r>
              <a:rPr lang="fr-FR" dirty="0">
                <a:solidFill>
                  <a:srgbClr val="09885A"/>
                </a:solidFill>
                <a:latin typeface="Consolas" panose="020B0609020204030204" pitchFamily="49" charset="0"/>
              </a:rPr>
              <a:t>97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$codes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]=</a:t>
            </a:r>
            <a:r>
              <a:rPr lang="fr-FR" dirty="0">
                <a:solidFill>
                  <a:srgbClr val="09885A"/>
                </a:solidFill>
                <a:latin typeface="Consolas" panose="020B0609020204030204" pitchFamily="49" charset="0"/>
              </a:rPr>
              <a:t>99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$codes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"g"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]=</a:t>
            </a:r>
            <a:r>
              <a:rPr lang="fr-FR" dirty="0">
                <a:solidFill>
                  <a:srgbClr val="09885A"/>
                </a:solidFill>
                <a:latin typeface="Consolas" panose="020B0609020204030204" pitchFamily="49" charset="0"/>
              </a:rPr>
              <a:t>103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87956" y="3976140"/>
            <a:ext cx="1137439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удаления элемента из массива в PHP следует использовать специальную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функцию 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unset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например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84536" y="4807137"/>
            <a:ext cx="2970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unset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$symbols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[“c”]);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87956" y="5207247"/>
            <a:ext cx="112095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Многомерные массивы в PHP также поддерживаются, а обращение к элементу многомерного массива – это последовательное указание индексов по всем измерениями, каждое измерение указывается в отдельных квадратных скобках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84536" y="6284466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$cell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]=”0-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”;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83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19790" y="261930"/>
            <a:ext cx="114175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Интерпретатор PHP предоставляет большое количество встроенных функций для работы с массивами, которые позволяют разбивать, объединять, сортировать массивы, осуществлять в них поиск элементов и еще делать многое другое.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94543" y="1322563"/>
            <a:ext cx="96036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Определение массива 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words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массив"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"цикл"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"условие"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"переменная"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"комментарий"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//Сортировка элементов массива по алфавиту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$words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Удаление последнего элемента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unset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$words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$words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)-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 отсортированного массива без последнего элемента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foreach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$words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as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$word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$word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65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1817" y="126381"/>
            <a:ext cx="1095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</a:rPr>
              <a:t>Строки</a:t>
            </a:r>
            <a:endParaRPr lang="ru-RU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61817" y="481521"/>
            <a:ext cx="112405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объединения (конкатенации) нескольких строк в одну следует использовать символ ".". Для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преобразования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любых других типов в строку и наоборот следует использовать оператор преобразования типов, например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929635" y="1150736"/>
            <a:ext cx="5503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3.1415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или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)”3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.1415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”;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61817" y="1497184"/>
            <a:ext cx="113125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Пример работы со строками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49573" y="1867314"/>
            <a:ext cx="1095281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Объявление строки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abcdef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Объединение двух строк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"ghi"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Сравнение двух строк 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strcmp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abcdefghi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)==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строка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s2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равна 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abcdefghi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Преобразование строки в верхний регистр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Преобразование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s1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 верхний регистр: 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strtoupper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 длины строки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Длина строки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s1 =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Преобразование целочисленного типа к строке;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длина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s1="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";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длина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s2="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strlen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Перевод строки в числовой формат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"14.8 - 7.1 =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)((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"14.8"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-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"7.1"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49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5301" y="201330"/>
            <a:ext cx="43360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</a:rPr>
              <a:t>Передача аргументов по ссылке</a:t>
            </a:r>
            <a:endParaRPr lang="ru-RU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5301" y="601440"/>
            <a:ext cx="116468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Аргументы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функции можно передавать по ссылке. Таким образом, в теле функции вы будете иметь дело не с копией переданной в качестве аргумента переменной, а с самой этой переменной. Т.е. если внутри функции значение аргумента изменяется, то изменяется и значение самой переменной, переданной по ссылке. Для обозначения того, что аргумент передается по ссылке в PHP используется символ &amp;. Передача параметров по ссылке на примере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функции-инкремента: </a:t>
            </a: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24525" y="254043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inc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Будет выведено значение 2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9769" y="197743"/>
            <a:ext cx="99784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</a:rPr>
              <a:t>Альтернативное обращение к значению переменной</a:t>
            </a:r>
            <a:endParaRPr lang="ru-RU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49769" y="650686"/>
            <a:ext cx="114175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значению переменной можно обратиться не только через ее непосредственное обозначение в программе, но и через другую переменную, если значение последней будет содержать имя запрашиваемой переменной. На следующем примере, пожалуй, становится понятно, зачем разработчикам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понадобился символ $ - он символизирует обращение к значению переменной, идентификатор которой располагается непосредственно после него, будь то лексема или любая адресуемая область памяти. Для обращения к значению переменной по значению другой переменной потребуется уже два символа $ подряд. Пример: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64564" y="295028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ru-RU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//Определение обычной текстовой переменной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"переменная a"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//Переменная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ref_a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содержит имя переменной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ru-RU" dirty="0" err="1">
                <a:solidFill>
                  <a:srgbClr val="001080"/>
                </a:solidFill>
                <a:latin typeface="Consolas" panose="020B0609020204030204" pitchFamily="49" charset="0"/>
              </a:rPr>
              <a:t>ref_a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//Ссылка на значение переменной 'a' с помощью значения переменной '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ref_a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err="1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"="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$$</a:t>
            </a:r>
            <a:r>
              <a:rPr lang="ru-RU" dirty="0" err="1">
                <a:solidFill>
                  <a:srgbClr val="001080"/>
                </a:solidFill>
                <a:latin typeface="Consolas" panose="020B0609020204030204" pitchFamily="49" charset="0"/>
              </a:rPr>
              <a:t>ref_a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/&gt;"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ru-RU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53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3115514" y="56779"/>
            <a:ext cx="596099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Обработка 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HTTP </a:t>
            </a:r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запросов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89809" y="764665"/>
            <a:ext cx="1168733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Обращение к серверу чаще всего сводится к двум видам запросов: с использованием метода GET или метода POST. 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GET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Параметры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передаются в заголовке HTTP запроса, поэтому видны в командной строке, и такой запрос может быть сохранен в закладках. 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60363"/>
            <a:r>
              <a:rPr lang="ru-RU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Общий вид ссылки с параметрами с использованием метода GET </a:t>
            </a:r>
            <a:r>
              <a:rPr lang="ru-RU" altLang="ru-RU" sz="2000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altLang="ru-RU" sz="20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/>
              <a:t>путь к ресурсу?параметр1=значение1&amp;параметр2=значение2</a:t>
            </a:r>
            <a:r>
              <a:rPr lang="ru-RU" sz="2000" b="1" dirty="0" smtClean="0"/>
              <a:t>&amp;…</a:t>
            </a:r>
          </a:p>
          <a:p>
            <a:pPr lvl="0" indent="360363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у вас нет специальной HTML формы для заполнения параметров, то вы можете отладить работу вашего PHP приложения, передавая тестовые параметры прямо в командной строке браузера, например:</a:t>
            </a:r>
          </a:p>
          <a:p>
            <a:pPr lvl="0" indent="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http://codingcraft.ru/php-samples/sql.php?sql=select * from </a:t>
            </a:r>
            <a:r>
              <a:rPr lang="en-US" sz="2000" b="1" dirty="0" err="1"/>
              <a:t>d_staff</a:t>
            </a:r>
            <a:endParaRPr lang="ru-RU" altLang="ru-RU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POST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Параметры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запросов передаются в теле HTTP запроса, поэтому в командной строке их нет. 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360363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обращения к параметрам запроса на стороне сервера следует использовать глобальные массивы $_GET и $_POST соответственно. Если вашему приложению все равно, с использованием какого метода к нему обратились, то следует использовать массив $_REQUEST, который объединяет в себе данные массивов $_GET и $_</a:t>
            </a:r>
            <a:r>
              <a:rPr lang="ru-RU" sz="2000" dirty="0" smtClean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4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99476" y="239663"/>
            <a:ext cx="72352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sql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isset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$_REQUEST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sql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 ?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$_REQUEST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sql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: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09731" y="745203"/>
            <a:ext cx="114025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этом примере программа определяет, был ли передан параметр “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”: если да, то присваивает соответствующей переменной его значение, и если нет, то присваивает ей пустое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значение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Для того чтобы ввести и осуществить первоначальную проверку данных на стороне клиента следует использовать HTML формы и язык программирования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99476" y="2204850"/>
            <a:ext cx="76100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&lt;form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method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'post'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action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=’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sql.php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’ 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SQL:&lt;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textarea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sql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cols=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'100'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rows=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'8'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&gt;&lt;/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textarea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&lt;input type=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submit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Выполнить'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form&gt;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089557" y="-144909"/>
            <a:ext cx="12885" cy="2898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09731" y="3818386"/>
            <a:ext cx="1140251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атрибуте </a:t>
            </a:r>
            <a:r>
              <a:rPr lang="ru-RU" alt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элемента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указывается метод, определяющий способ передачи данных на сервер (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). В атрибуте </a:t>
            </a:r>
            <a:r>
              <a:rPr lang="ru-RU" alt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указывается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файл, который будет обрабатывать запрос. Если обработчиком должен быть текущий файл, то атрибут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добавлять не нужно. Для всех элементов, чье значение должно быть передано в качестве параметра HTTP запроса следует определить уникальное значение атрибута </a:t>
            </a:r>
            <a:r>
              <a:rPr lang="ru-RU" alt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Именно значение атрибута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будет являться индексом в массивах $_GET, $_POST или $_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REQUEST.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Нажатие на кнопку </a:t>
            </a:r>
            <a:r>
              <a:rPr lang="ru-RU" altLang="ru-RU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submit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отправляет форму со всеми введенными значениями на сервер. </a:t>
            </a:r>
          </a:p>
        </p:txBody>
      </p:sp>
    </p:spTree>
    <p:extLst>
      <p:ext uri="{BB962C8B-B14F-4D97-AF65-F5344CB8AC3E}">
        <p14:creationId xmlns:p14="http://schemas.microsoft.com/office/powerpoint/2010/main" val="211928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4819056" y="56779"/>
            <a:ext cx="255390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ООП в 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PHP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33374" y="764665"/>
            <a:ext cx="1158240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создания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класса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используется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ключевое слово 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для создания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объекта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класса -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33413" y="160769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 }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print_r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33374" y="3404824"/>
            <a:ext cx="112680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Свойства</a:t>
            </a:r>
            <a:r>
              <a:rPr lang="ru-RU" alt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объявляются как обычные переменные, перед которыми стоит модификатор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доступа. </a:t>
            </a:r>
            <a:r>
              <a:rPr lang="ru-RU" alt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Методы</a:t>
            </a:r>
            <a:r>
              <a:rPr lang="ru-RU" alt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представляют обычные функции, которые выполняют определенные действия. </a:t>
            </a: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5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47648" y="571508"/>
            <a:ext cx="62436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Имя: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;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Возраст: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"Tom"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установка свойства $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name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установка свойства $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age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вызов метода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print_r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058024" y="475102"/>
            <a:ext cx="484346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57188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Здесь класс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содержит два свойства: 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 $</a:t>
            </a:r>
            <a:r>
              <a:rPr lang="ru-RU" alt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функция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getInfo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 выводит содержание ранее определенных переменных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indent="357188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обращения к текущему объекту из этого же класса используется выражение 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 оно и представляет текущий объект. Чтобы обратиться к свойствам и методам объекта применяется оператор доступа -&gt;. Например, чтобы получить значение свойства 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надо использовать выражение 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Причем при обращении к свойствам знак $ не используется.</a:t>
            </a: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96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9071" y="85719"/>
            <a:ext cx="115681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Конструкторы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представляют специальные методы, которые выполняются при создании объекта и служат для начальной инициализации его свойств. Для создания конструктора надо объявить функцию с именем __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construct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(с двумя подчеркиваниями впереди):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76275" y="1214612"/>
            <a:ext cx="676751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__construct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Имя: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;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Возраст: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Джон"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dirty="0">
                <a:solidFill>
                  <a:srgbClr val="09885A"/>
                </a:solidFill>
                <a:latin typeface="Consolas" panose="020B0609020204030204" pitchFamily="49" charset="0"/>
              </a:rPr>
              <a:t>33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user2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90510" y="6018613"/>
            <a:ext cx="117681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Чтобы </a:t>
            </a:r>
            <a:r>
              <a:rPr lang="ru-RU" altLang="ru-RU" dirty="0">
                <a:solidFill>
                  <a:srgbClr val="000000"/>
                </a:solidFill>
                <a:latin typeface="Verdana" panose="020B0604030504040204" pitchFamily="34" charset="0"/>
              </a:rPr>
              <a:t>создать объект, нам надо передать значения для соответствующих </a:t>
            </a:r>
            <a:r>
              <a:rPr lang="ru-RU" alt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параметров в функции конструктора:</a:t>
            </a:r>
            <a:r>
              <a:rPr lang="ru-RU" altLang="ru-RU" dirty="0">
                <a:solidFill>
                  <a:srgbClr val="000000"/>
                </a:solidFill>
                <a:latin typeface="Verdana" panose="020B0604030504040204" pitchFamily="34" charset="0"/>
              </a:rPr>
              <a:t> $user2 = </a:t>
            </a:r>
            <a:r>
              <a:rPr lang="ru-RU" altLang="ru-RU" dirty="0" err="1">
                <a:solidFill>
                  <a:srgbClr val="000000"/>
                </a:solidFill>
                <a:latin typeface="Verdana" panose="020B0604030504040204" pitchFamily="34" charset="0"/>
              </a:rPr>
              <a:t>new</a:t>
            </a:r>
            <a:r>
              <a:rPr lang="ru-RU" altLang="ru-RU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ru-RU" altLang="ru-RU" dirty="0" err="1">
                <a:solidFill>
                  <a:srgbClr val="000000"/>
                </a:solidFill>
                <a:latin typeface="Verdana" panose="020B0604030504040204" pitchFamily="34" charset="0"/>
              </a:rPr>
              <a:t>User</a:t>
            </a:r>
            <a:r>
              <a:rPr lang="ru-RU" altLang="ru-RU" dirty="0">
                <a:solidFill>
                  <a:srgbClr val="000000"/>
                </a:solidFill>
                <a:latin typeface="Verdana" panose="020B0604030504040204" pitchFamily="34" charset="0"/>
              </a:rPr>
              <a:t>("Джон", 33); </a:t>
            </a:r>
          </a:p>
        </p:txBody>
      </p:sp>
    </p:spTree>
    <p:extLst>
      <p:ext uri="{BB962C8B-B14F-4D97-AF65-F5344CB8AC3E}">
        <p14:creationId xmlns:p14="http://schemas.microsoft.com/office/powerpoint/2010/main" val="152755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9071" y="85719"/>
            <a:ext cx="1156811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Деструкторы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служат для освобождения ресурсов, используемых программой - для освобождения открытых файлов, открытых подключений к базам данных и т.д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Деструктор определяется с помощью функции __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destruct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(два подчеркивания впереди):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33413" y="1193715"/>
            <a:ext cx="718185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__construct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Имя: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;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Возраст: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__destruct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Вызов деструктора"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9070" y="5902696"/>
            <a:ext cx="11325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Функция деструктора определяется без параметров, и когда на объект не останется ссылок в программе, он будет уничтожен, и при этом будет вызван деструктор.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471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61938" y="128497"/>
            <a:ext cx="115824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Чтобы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наследовать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один класс от другого, нам надо применить инструкцию 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extends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Например, унаследуем класс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от класса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1938" y="928716"/>
            <a:ext cx="370331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sz="1600" dirty="0" err="1" smtClean="0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795E26"/>
                </a:solidFill>
                <a:latin typeface="Consolas" panose="020B0609020204030204" pitchFamily="49" charset="0"/>
              </a:rPr>
              <a:t>__construct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 $age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getClassInfo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Класс 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User </a:t>
            </a:r>
            <a:r>
              <a:rPr lang="ru-RU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описывает пользователей&lt;</a:t>
            </a:r>
            <a:r>
              <a:rPr lang="en-US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 smtClean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Имя: </a:t>
            </a:r>
            <a:r>
              <a:rPr lang="ru-RU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; </a:t>
            </a:r>
            <a:r>
              <a:rPr lang="ru-RU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Возраст: </a:t>
            </a:r>
            <a:r>
              <a:rPr lang="ru-RU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87158" y="928716"/>
            <a:ext cx="722386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Customer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$account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$sum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__construct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 $age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 $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вызов конструктора базового класс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__construct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account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acc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скрывает родительский метод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getClassInfo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getClassInfo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</a:rPr>
              <a:t>Класс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Customer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</a:rPr>
              <a:t>описывает клиентов 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parent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</a:rPr>
              <a:t>Номер счета </a:t>
            </a:r>
            <a:r>
              <a:rPr lang="ru-RU" sz="1600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account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;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</a:rPr>
              <a:t>Сумма: </a:t>
            </a:r>
            <a:r>
              <a:rPr lang="ru-RU" sz="1600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sum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$client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Customer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</a:rPr>
              <a:t>Джон"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600" dirty="0">
                <a:solidFill>
                  <a:srgbClr val="09885A"/>
                </a:solidFill>
                <a:latin typeface="Consolas" panose="020B0609020204030204" pitchFamily="49" charset="0"/>
              </a:rPr>
              <a:t>25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</a:rPr>
              <a:t>"1123400895"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600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client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$client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getClassInfo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ru-RU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8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9315" y="2306326"/>
            <a:ext cx="1140822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ногда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возникают ситуации, когда надо запретить переопределение методов.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этого в классе-родителе надо указать методы с модификатором 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final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96686" y="313400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//.........................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Имя: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;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Возраст: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9313" y="5795575"/>
            <a:ext cx="11582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В этом случае во всех классах-наследниках от класса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</a:rPr>
              <a:t>User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 мы уже не сможем определить метод с таким же именем</a:t>
            </a:r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19313" y="289707"/>
            <a:ext cx="1140822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Класс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наследует от класса-родителя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весь функционал, а также добавляет два дополнительных свойства 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И несмотря на то, что свойство 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определено в классе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его также можно получить из класса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 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нам надо обратиться к методу родительского класса, то мы можем использовать инструкцию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И при вызове метода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getInfo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 из класса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сначала будет вызываться метод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getInfo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 родительского класса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а затем остальные инструкции:</a:t>
            </a:r>
          </a:p>
        </p:txBody>
      </p:sp>
    </p:spTree>
    <p:extLst>
      <p:ext uri="{BB962C8B-B14F-4D97-AF65-F5344CB8AC3E}">
        <p14:creationId xmlns:p14="http://schemas.microsoft.com/office/powerpoint/2010/main" val="375656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3829" y="211354"/>
            <a:ext cx="11379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помощью специальных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модификаторов доступа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можно задать область видимости для свойств и методов класса. В PHP есть три таких модификатора: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public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: к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свойствам и методам, объявленным с данным модификатором, можно обращаться из внешнего кода и из любой части программы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protected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свойства и методы с данным модификатором доступны из текущего класса, а также из классов-наследников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private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: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свойства и методы с данным модификатором доступны только из текущего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класса</a:t>
            </a:r>
          </a:p>
          <a:p>
            <a:pPr lvl="0"/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Классу-наследнику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доступны все свойства и методы с модификаторами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protected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но недоступны методы и свойства с модификатором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929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33829" y="211354"/>
            <a:ext cx="113792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Кроме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обычных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методов с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разными модификаторами доступа класс может содержать </a:t>
            </a:r>
            <a:r>
              <a:rPr 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статические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методы.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Такие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методы и свойства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помечаются ключевым словом </a:t>
            </a: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static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82170" y="1011573"/>
            <a:ext cx="1045028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getClassInfo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Это класс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User,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описывающий пользователя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getClassInfo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5772" y="3913557"/>
            <a:ext cx="114953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 вызове статического метода используется имя класса и оператор </a:t>
            </a:r>
            <a:r>
              <a:rPr lang="ru-RU" alt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::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вместо операции доступа </a:t>
            </a:r>
            <a:r>
              <a:rPr lang="ru-RU" alt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-&gt;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так как статический метод относится ко всему классу, а не к конкретному объекту этого класса. </a:t>
            </a:r>
          </a:p>
        </p:txBody>
      </p:sp>
    </p:spTree>
    <p:extLst>
      <p:ext uri="{BB962C8B-B14F-4D97-AF65-F5344CB8AC3E}">
        <p14:creationId xmlns:p14="http://schemas.microsoft.com/office/powerpoint/2010/main" val="17413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19313" y="173950"/>
            <a:ext cx="115388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Наряду со статическими методами класс может также иметь статические свойства. Для обращения к статическим свойствам изнутри класса используется ключевое слово 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 операция ::, например, 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::$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counter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++.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2170" y="1232607"/>
            <a:ext cx="111759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__construct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$counter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19313" y="4838172"/>
            <a:ext cx="115388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конструкторе мы увеличиваем статическую переменную, а затем устанавливаем ее значение для свойства $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1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9769" y="266794"/>
            <a:ext cx="1146247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Константы</a:t>
            </a:r>
            <a:endParaRPr lang="ru-RU" alt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определения </a:t>
            </a:r>
            <a:r>
              <a:rPr lang="ru-RU" altLang="ru-RU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константы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используется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en-US" altLang="ru-RU" sz="2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define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define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$value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case_sen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Параметр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передает название константы, а параметр $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- ее значение. Третий необязательный параметр принимает логическое значение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или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Если значение равно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то при использовании константы будет учитываться ее регистр, если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 регистр не учитывается. </a:t>
            </a:r>
            <a:endParaRPr lang="ru-RU" alt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После определения константы мы можем ее использовать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как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обычную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переменную, но нельзя изменить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ее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значение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 надо использовать знак $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определения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констант также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используется инструкция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96686" y="400868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EMPLOYEE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MANAGER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ADMIN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::MANAGER;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81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49769" y="266794"/>
            <a:ext cx="1146247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Установка </a:t>
            </a:r>
            <a:r>
              <a:rPr lang="ru-RU" altLang="ru-RU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типа переменной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помощью функции </a:t>
            </a:r>
            <a:r>
              <a:rPr lang="en-US" alt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settype</a:t>
            </a:r>
            <a:r>
              <a:rPr lang="en-US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можно установить для переменной определенный тип. Она принимает два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параметра:settype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("Переменная", "Тип"). В качестве первого параметра используется переменная, тип которой надо установить, а в качестве второго - строковое описание типа, которое возвращается функцией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gettype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83598" y="203148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10.7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settype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"integer"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10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49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28298" y="3360636"/>
            <a:ext cx="29594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строка 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var_dump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48881" y="221324"/>
            <a:ext cx="114624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Функции вывода результатов в виде текста</a:t>
            </a:r>
          </a:p>
          <a:p>
            <a:pPr algn="just"/>
            <a:r>
              <a:rPr lang="ru-RU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en-US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</a:t>
            </a:r>
            <a:r>
              <a:rPr lang="ru-RU" sz="20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Выводит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одну или несколько строк, разделенных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запятыми. Нет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возвращаемого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значения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28298" y="1236987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echo "String 1"</a:t>
            </a:r>
            <a:endParaRPr lang="ru-RU" dirty="0">
              <a:solidFill>
                <a:srgbClr val="8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48880" y="1777361"/>
            <a:ext cx="11462479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ru-RU" sz="2000" b="1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var_dump</a:t>
            </a:r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предназначена для отладки кода и позволяет выводить значения переменных и их тип.</a:t>
            </a:r>
          </a:p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помощью этой функции мы можем выводить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массив,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увидеть, что переменная пуста, можем подсчитать количество пробелов по краям строки, можем увидеть, что переменная логическая и имеет значение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48880" y="4561130"/>
            <a:ext cx="114624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</a:t>
            </a:r>
            <a:r>
              <a:rPr lang="ru-RU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print_r</a:t>
            </a:r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 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печатает читабельную информацию о переменной.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728298" y="5007076"/>
            <a:ext cx="5541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'apple'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'b'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'banana'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'x'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'y'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'z'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print_r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8868228" y="4322562"/>
            <a:ext cx="3583358" cy="2535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dirty="0"/>
              <a:t>Array</a:t>
            </a:r>
          </a:p>
          <a:p>
            <a:pPr>
              <a:lnSpc>
                <a:spcPct val="80000"/>
              </a:lnSpc>
            </a:pPr>
            <a:r>
              <a:rPr lang="es-ES" dirty="0"/>
              <a:t>(</a:t>
            </a:r>
          </a:p>
          <a:p>
            <a:pPr>
              <a:lnSpc>
                <a:spcPct val="80000"/>
              </a:lnSpc>
            </a:pPr>
            <a:r>
              <a:rPr lang="es-ES" dirty="0"/>
              <a:t>    [a] =&gt; apple</a:t>
            </a:r>
          </a:p>
          <a:p>
            <a:pPr>
              <a:lnSpc>
                <a:spcPct val="80000"/>
              </a:lnSpc>
            </a:pPr>
            <a:r>
              <a:rPr lang="es-ES" dirty="0"/>
              <a:t>    [b] =&gt; banana</a:t>
            </a:r>
          </a:p>
          <a:p>
            <a:pPr>
              <a:lnSpc>
                <a:spcPct val="80000"/>
              </a:lnSpc>
            </a:pPr>
            <a:r>
              <a:rPr lang="es-ES" dirty="0"/>
              <a:t>    [c] =&gt; Array</a:t>
            </a:r>
          </a:p>
          <a:p>
            <a:pPr>
              <a:lnSpc>
                <a:spcPct val="80000"/>
              </a:lnSpc>
            </a:pPr>
            <a:r>
              <a:rPr lang="es-ES" dirty="0"/>
              <a:t>    (</a:t>
            </a:r>
          </a:p>
          <a:p>
            <a:pPr>
              <a:lnSpc>
                <a:spcPct val="80000"/>
              </a:lnSpc>
            </a:pPr>
            <a:r>
              <a:rPr lang="es-ES" dirty="0"/>
              <a:t>        [0] =&gt; x</a:t>
            </a:r>
          </a:p>
          <a:p>
            <a:pPr>
              <a:lnSpc>
                <a:spcPct val="80000"/>
              </a:lnSpc>
            </a:pPr>
            <a:r>
              <a:rPr lang="es-ES" dirty="0"/>
              <a:t>        [1] =&gt; y</a:t>
            </a:r>
          </a:p>
          <a:p>
            <a:pPr>
              <a:lnSpc>
                <a:spcPct val="80000"/>
              </a:lnSpc>
            </a:pPr>
            <a:r>
              <a:rPr lang="es-ES" dirty="0"/>
              <a:t>        [2] =&gt; z</a:t>
            </a:r>
          </a:p>
          <a:p>
            <a:pPr>
              <a:lnSpc>
                <a:spcPct val="80000"/>
              </a:lnSpc>
            </a:pPr>
            <a:r>
              <a:rPr lang="es-ES" dirty="0"/>
              <a:t>    )</a:t>
            </a:r>
          </a:p>
          <a:p>
            <a:pPr>
              <a:lnSpc>
                <a:spcPct val="80000"/>
              </a:lnSpc>
            </a:pPr>
            <a:r>
              <a:rPr lang="es-E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986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3450412" y="56779"/>
            <a:ext cx="529119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Работа с </a:t>
            </a:r>
            <a:r>
              <a:rPr lang="ru-RU" sz="40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базой </a:t>
            </a:r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данных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2412" y="764665"/>
            <a:ext cx="1148478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Большинство динамических интернет страниц хранят свое содержимое в базах данных. Многие хостинг провайдеры, поддерживающие PHP, также предоставляют своим клиентами возможность работать с 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СУБД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Работа с БД из PHP осуществляется всего лишь с помощью трех функций: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mysqli_connect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соединение с сервером и базой данных.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mysqli_query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 универсальная функция отправки запросов к БД, с помощью нее можно сделать все.</a:t>
            </a:r>
          </a:p>
          <a:p>
            <a:pPr marL="514350" indent="-514350">
              <a:buFont typeface="+mj-lt"/>
              <a:buAutoNum type="arabicParenR"/>
            </a:pPr>
            <a:r>
              <a:rPr lang="ru-RU" sz="26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mysqli_error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 вывод ошибок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42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7661" y="182344"/>
            <a:ext cx="114538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Прежде, чем начать работать с базой данных из PHP, нужно установить соединение с сервером, на котором эта база находится.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Делается это с помощью функции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mysqli_connect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которая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принимает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параметра: имя хоста (сервера), имя пользователя, под которым мы работаем с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базой, пароль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этого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пользователя и название базы данных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47660" y="1567339"/>
            <a:ext cx="1155382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Устанавливаем доступы к базе данных: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host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'localhost'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имя хоста, на локальном компьютере это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localhost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'root'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имя пользователя, по умолчанию это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root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$password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пароль, по умолчанию пустой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db_name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'test'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имя базы данных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//Соединяемся с базой данных используя наши доступы: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mysqli_connect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$host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$password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db_name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Соединение записывается в переменную $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link,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которая используется дальше для работы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mysqi_query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*/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0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7661" y="182344"/>
            <a:ext cx="114538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Запросы к базе данных представляют собой обычные строки, которые мы вставляем в функцию PHP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mysqli_query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(первым параметром это функция принимает переменную, в которую мы записали результат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mysqli_connect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в нашем случае это переменная $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47661" y="1259562"/>
            <a:ext cx="86106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Внутри функции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PHP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mysqli_query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стоит обычная строка: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workers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Мы можем формировать эту строку с помощью переменных: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'workers'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задаем имя таблицы в переменной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$table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WHERE id&gt;0"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7660" y="3567886"/>
            <a:ext cx="114538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Принято правило, по которому </a:t>
            </a:r>
            <a:r>
              <a:rPr lang="ru-RU" i="1" dirty="0">
                <a:solidFill>
                  <a:srgbClr val="333333"/>
                </a:solidFill>
                <a:latin typeface="Arial" panose="020B0604020202020204" pitchFamily="34" charset="0"/>
              </a:rPr>
              <a:t>команды SQL следует писать в верхнем </a:t>
            </a:r>
            <a:r>
              <a:rPr lang="ru-RU" i="1" dirty="0" smtClean="0">
                <a:solidFill>
                  <a:srgbClr val="333333"/>
                </a:solidFill>
                <a:latin typeface="Arial" panose="020B0604020202020204" pitchFamily="34" charset="0"/>
              </a:rPr>
              <a:t>регистре</a:t>
            </a:r>
            <a:r>
              <a:rPr lang="ru-RU" dirty="0" smtClean="0">
                <a:solidFill>
                  <a:srgbClr val="333333"/>
                </a:solidFill>
                <a:latin typeface="Arial" panose="020B0604020202020204" pitchFamily="34" charset="0"/>
              </a:rPr>
              <a:t>, 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а все остальное - в нижнем.</a:t>
            </a:r>
          </a:p>
          <a:p>
            <a:pPr algn="just"/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Это относиться к командам </a:t>
            </a:r>
            <a:r>
              <a:rPr lang="ru-RU" b="1" dirty="0">
                <a:solidFill>
                  <a:srgbClr val="333333"/>
                </a:solidFill>
                <a:latin typeface="Arial" panose="020B0604020202020204" pitchFamily="34" charset="0"/>
              </a:rPr>
              <a:t>SELECT, UPDATE, FROM, DELETE, WHERE</a:t>
            </a: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 и другим такого рода.</a:t>
            </a:r>
            <a:endParaRPr lang="ru-RU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3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7661" y="182344"/>
            <a:ext cx="114538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</a:t>
            </a:r>
            <a:r>
              <a:rPr lang="ru-RU" sz="24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PHP не выводит ошибки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если ему об этом не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сказать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Чтобы вывести ошибки, следует пользоваться конструкцией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die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mysqli_error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($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 ), которую необходимо добавлять к каждому запросу к БД.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рабочем сайте эти конструкции следует удалять, чтобы пользователи и тем более хакеры не видели ошибок БД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47661" y="1567339"/>
            <a:ext cx="10367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or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die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mysqli_error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47660" y="2193489"/>
            <a:ext cx="114538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Чтобы не было проблем с кодировками следует придерживаться простых правил: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Базу данных следует создавать в кодировке utf8_general_ci.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Документ PHP должен быть в кодировке utf8.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Таблицы в БД должны быть в utf8_general_ci.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 всякий случай сразу после команды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mysqli_connect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добавьте такое запрос: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mysqli_query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($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"SET NAMES 'utf8'");</a:t>
            </a:r>
          </a:p>
        </p:txBody>
      </p:sp>
    </p:spTree>
    <p:extLst>
      <p:ext uri="{BB962C8B-B14F-4D97-AF65-F5344CB8AC3E}">
        <p14:creationId xmlns:p14="http://schemas.microsoft.com/office/powerpoint/2010/main" val="235598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9074" y="117693"/>
            <a:ext cx="1183957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rgbClr val="800000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Устанавливаем доступы к базе данных: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host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'localhost'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имя хоста, на локальном компьютере это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localhost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'root'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имя пользователя, по умолчанию это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root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$password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пароль, по умолчанию пустой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db_name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'test'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имя базы </a:t>
            </a:r>
            <a:r>
              <a:rPr lang="ru-RU" dirty="0" smtClean="0">
                <a:solidFill>
                  <a:srgbClr val="008000"/>
                </a:solidFill>
                <a:latin typeface="Consolas" panose="020B0609020204030204" pitchFamily="49" charset="0"/>
              </a:rPr>
              <a:t>данных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//Соединяемся с базой данных используя наши доступы: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mysqli_connect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$host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$user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$password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db_name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Устанавливаем кодировку (не обязательно, но поможет избежать проблем):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"SET NAMES 'utf8</a:t>
            </a:r>
            <a:r>
              <a:rPr lang="en-US" dirty="0" smtClean="0">
                <a:solidFill>
                  <a:srgbClr val="A31515"/>
                </a:solidFill>
                <a:latin typeface="Consolas" panose="020B0609020204030204" pitchFamily="49" charset="0"/>
              </a:rPr>
              <a:t>'"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Формируем тестовый запрос: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workers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id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Делаем запрос к БД, результат запроса пишем в $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result: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or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die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mysqli_error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$link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Проверяем что же нам отдала база данных, если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null –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то какие-то проблемы: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 smtClean="0">
                <a:solidFill>
                  <a:srgbClr val="795E26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var_dump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Преобразуем то, что отдала нам база в нормальный массив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PHP $data: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[];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$row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mysqli_fetch_assoc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$row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?&gt;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19073" y="5473005"/>
            <a:ext cx="11839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Функция 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mysqli_fetch_assoc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считывает последовательно каждую строку результата, который прислала нам база.</a:t>
            </a:r>
          </a:p>
        </p:txBody>
      </p:sp>
    </p:spTree>
    <p:extLst>
      <p:ext uri="{BB962C8B-B14F-4D97-AF65-F5344CB8AC3E}">
        <p14:creationId xmlns:p14="http://schemas.microsoft.com/office/powerpoint/2010/main" val="190572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F60486-796E-454A-A0AA-196F8BADE0A3}"/>
              </a:ext>
            </a:extLst>
          </p:cNvPr>
          <p:cNvSpPr/>
          <p:nvPr/>
        </p:nvSpPr>
        <p:spPr>
          <a:xfrm>
            <a:off x="3017153" y="56779"/>
            <a:ext cx="615771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Работа с </a:t>
            </a:r>
            <a:r>
              <a:rPr lang="ru-RU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cookie</a:t>
            </a:r>
            <a:r>
              <a:rPr lang="ru-RU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и сессиями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89557" y="83690"/>
            <a:ext cx="12885" cy="289819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" tIns="6348" rIns="6348" bIns="634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2412" y="764665"/>
            <a:ext cx="114847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1) Для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сохранения </a:t>
            </a:r>
            <a:r>
              <a:rPr lang="ru-RU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куки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 компьютере пользователя используется функция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setcookie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(). Она имеет следующее определение:</a:t>
            </a:r>
            <a:endParaRPr lang="ru-RU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2412" y="1534106"/>
            <a:ext cx="114847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setcookie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обязательные параметры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$expire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$path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$domain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$secure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httponly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02412" y="2241992"/>
            <a:ext cx="1148478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 имя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которое будет использоваться для доступа к его значению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 значение или содержимое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- любой алфавитно-цифровой текст 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до 4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кБайт</a:t>
            </a: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expire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срок действия, после которого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уничтожаются. Если данный параметр не установлен или равен 0, то уничтожение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происходит после закрытия браузера.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путь к каталогу на сервере, для которого будут доступны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задает домен, для которого будут доступны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secure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указывает на то, что значение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должно передаваться по протоколу HTTPS. Если задано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от клиента будет передано на сервер, только если установлено защищенное соединение. По умолчанию равно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httponly</a:t>
            </a:r>
            <a:r>
              <a:rPr lang="ru-RU" alt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равно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будут доступны только через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протокол. То есть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этом случае не будут доступны скриптовым языкам, например,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По умолчанию параметр равен 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ru-RU" alt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70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2489" y="172521"/>
            <a:ext cx="22672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Сохраним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cookie: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82489" y="572631"/>
            <a:ext cx="96330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$value1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Сингапур"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value2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китайский"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setcookie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"city"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$value1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setcookie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"language"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$value2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time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()+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3600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срок действия 1 час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82488" y="1928723"/>
            <a:ext cx="113332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Чтобы получить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можно использовать глобальный ассоциативный массив $_COOKIE, например, $_COOKIE["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city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"]. Так, получим ранее сохраненные </a:t>
            </a:r>
            <a:r>
              <a:rPr lang="ru-RU" alt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куки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82488" y="2792372"/>
            <a:ext cx="10990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isset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'city'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]))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Город: 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$_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"city"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.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isset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'language'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]))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Язык: 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.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$_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"language"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82488" y="3531036"/>
            <a:ext cx="117761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удаления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cookie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достаточно в качестве срока действия указать какое-либо время в прошлом: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282488" y="4331255"/>
            <a:ext cx="4996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setcookie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"city"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time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 - 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3600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8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4800" y="155913"/>
            <a:ext cx="1153953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Сессии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представляют набор переменных, которые хранятся на сервере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которые относятся только к текущему пользователю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Для запуска сессии необходимо вызвать функцию </a:t>
            </a:r>
            <a:r>
              <a:rPr lang="ru-RU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session_start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(). Затем для сохранения или получения данных в сессии надо использовать глобальный ассоциативный массив </a:t>
            </a:r>
            <a:r>
              <a:rPr lang="ru-RU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$_SESSION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62000" y="203335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session_start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'city'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Сингапур"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$_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lang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китайский"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" y="1664018"/>
            <a:ext cx="5710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Запустим сессию и сохраним в ней значения: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2956680"/>
            <a:ext cx="8682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Теперь получим эти значения и выведем на страницу: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61999" y="3326012"/>
            <a:ext cx="97964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isset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'city'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 &amp;&amp;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isset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lang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'city'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$language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lang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Город: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city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/&gt;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</a:rPr>
              <a:t>Язык: </a:t>
            </a:r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language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04800" y="5080338"/>
            <a:ext cx="115395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При запуске сессии, если пользователь первый раз заходит на сайт, PHP назначает ему уникальный идентификатор сессии. Этот идентификатор с помощью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</a:rPr>
              <a:t>cookie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 сохраняется в браузере пользователя</a:t>
            </a:r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. Получение данного идентификатора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61999" y="6003668"/>
            <a:ext cx="3603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echo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$_COOKIE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'PHPSESSID'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04800" y="6396335"/>
            <a:ext cx="117109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Сессия уничтожается с закрытием браузера, </a:t>
            </a:r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</a:rPr>
              <a:t>либо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с помощью функции </a:t>
            </a:r>
            <a:r>
              <a:rPr lang="ru-RU" sz="2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session_destroy</a:t>
            </a:r>
            <a:r>
              <a:rPr lang="ru-RU" b="1" dirty="0">
                <a:solidFill>
                  <a:srgbClr val="000000"/>
                </a:solidFill>
                <a:latin typeface="verdana" panose="020B0604030504040204" pitchFamily="34" charset="0"/>
              </a:rPr>
              <a:t>()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881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4908</TotalTime>
  <Words>4028</Words>
  <Application>Microsoft Office PowerPoint</Application>
  <PresentationFormat>Широкоэкранный</PresentationFormat>
  <Paragraphs>558</Paragraphs>
  <Slides>39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Consolas</vt:lpstr>
      <vt:lpstr>Courier New</vt:lpstr>
      <vt:lpstr>Menlo</vt:lpstr>
      <vt:lpstr>Times New Roman</vt:lpstr>
      <vt:lpstr>Verdana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denis</dc:creator>
  <cp:lastModifiedBy>denis</cp:lastModifiedBy>
  <cp:revision>465</cp:revision>
  <dcterms:created xsi:type="dcterms:W3CDTF">2017-10-24T23:13:50Z</dcterms:created>
  <dcterms:modified xsi:type="dcterms:W3CDTF">2019-05-15T06:43:06Z</dcterms:modified>
</cp:coreProperties>
</file>