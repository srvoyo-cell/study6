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86" r:id="rId3"/>
    <p:sldId id="287" r:id="rId4"/>
    <p:sldId id="288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84" r:id="rId14"/>
    <p:sldId id="265" r:id="rId15"/>
    <p:sldId id="266" r:id="rId16"/>
    <p:sldId id="267" r:id="rId17"/>
    <p:sldId id="268" r:id="rId18"/>
    <p:sldId id="269" r:id="rId19"/>
    <p:sldId id="270" r:id="rId20"/>
    <p:sldId id="272" r:id="rId21"/>
    <p:sldId id="285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is" initials="d" lastIdx="1" clrIdx="0">
    <p:extLst>
      <p:ext uri="{19B8F6BF-5375-455C-9EA6-DF929625EA0E}">
        <p15:presenceInfo xmlns:p15="http://schemas.microsoft.com/office/powerpoint/2012/main" userId="deni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56" autoAdjust="0"/>
    <p:restoredTop sz="87960" autoAdjust="0"/>
  </p:normalViewPr>
  <p:slideViewPr>
    <p:cSldViewPr snapToGrid="0">
      <p:cViewPr varScale="1">
        <p:scale>
          <a:sx n="83" d="100"/>
          <a:sy n="83" d="100"/>
        </p:scale>
        <p:origin x="12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7F454-2975-43A0-9FC9-66CF486C8481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6CFB85-EFA0-40AA-B276-E9ACA3DABF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442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972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радио-кнопки называются так потому что их поведение напоминает поведение кнопок старых радио, у которых только одна кнопка могла быть нажата одновременно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466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0927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46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594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131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4222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700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3131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04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354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9700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0704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6410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463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6354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1728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6925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2561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1549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5050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9062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8682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9958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9128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486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94094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30204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CFB85-EFA0-40AA-B276-E9ACA3DABF8B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67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DED64C-7D55-46D9-9B30-753F7B80C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AED7BEE-1591-46EC-A2C0-B3E4C0CBC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901D5E-9823-400F-851C-8097B263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48D51A-D459-4828-BC2A-46BC011BD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74D37E-6022-4644-9496-EB68613BD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061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B3638-6484-49E1-A6B4-D763C7C5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8DAB26-FD0A-45DE-8776-E998C1539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48B4D0-5056-4A9B-A9F3-1EBBC516A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708766-6C50-43B7-A5D1-66A0C740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F2A541-FF4D-49B0-9DE6-DFFB9A6C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44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0FA370-1460-4110-B682-DE3542E2C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C86A7B-B9F8-44F0-B6B4-2F9A076DF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6EDE4B-956A-45E0-9C8C-FDDB85E11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2DEE3E-E23C-414D-9D74-BBF2D2ED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3AD95D-7E84-4D0A-9BCA-56CDC51E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803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38F860-93CF-4604-B709-FCF95B51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D1AC92-4C5B-471E-9E25-2A6DC114F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DCA692-3253-4AF9-AE47-134E52A30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A5F86F-635C-4964-BD51-342903378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D49032-64DD-46A0-BAE3-460933361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6DE280-D0A1-4873-BDEE-2062DA263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3733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7BF69-6B77-4C88-A6A1-76C3515BE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6F6260-F48B-406D-9544-8E81BC3B2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8B39D7-2CC2-4AEC-99AE-4E4DE9BDE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C69BE8-CA1C-41B9-9222-9930110A4F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682C6EB-0FBB-4A2F-9717-151D1208C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F998F1D-F4D3-4DD7-BE3D-A3685E553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A569960-6DF1-4D8B-938B-37A44E48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70C7907-F095-4976-A2B1-62896FD8D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429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DDCFA1-D37A-4571-B69E-CC588A62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6FB7A26-CF79-4D2B-B94B-23E6E45B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72B9E35-6848-470E-B46E-8412E3831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6A39DFA-834F-4CE2-A409-7930AD33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09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72DBB04-3CE0-432F-8661-F06932879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63E1C80-9416-4708-8EE1-08411AFF9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1E53D2-77F2-4C64-87E5-80A44774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00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A69E3A-0BF0-43CD-9171-1BE715AC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102653-6B01-491C-BAA1-16F7F1059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6806A8-84E5-461F-84AB-18772BB78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4ABDCF-48B1-476C-8217-9B3503F68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C6ADEB-CC2E-400E-89C9-8E737D024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498A93-99D3-42D0-BA63-4F1A8C4F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810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1D76E7-7275-4F50-9DE7-D48C4A856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4FD749E-5430-4F4C-99C8-56E16855BB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9D4950-AEB0-4473-8900-86C8468EAE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A972C5-CFF9-4F10-A7C5-0D26092C8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C3B07C-85C0-4F55-AC3F-7E3A015A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09A27C-032D-4DDC-A8FE-EADFF73B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246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5789F-4826-42F7-A25C-D4EAF22EE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3F02524-4674-40B5-935B-C1191BB81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D9C3B4-2737-4BE8-8F1F-615CEB5D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FA69DF-6AA0-4DDF-837D-B37046C5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6A6CE5-50DB-4FFA-A1CC-125D7A89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460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A9D8BAC-B05F-4BA3-8C7E-BC1ED6E3D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60C72AF-D3C2-402B-A5E3-F1BB655FA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C89A6A-7B9C-4394-B99D-76B9FACFE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EF310B-761A-4453-9F30-F9AF5B6F4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5C8658-5B8A-4CE7-BBBF-943BCDDD4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71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28E016-39DF-45F1-9253-39332520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014186-597F-4B69-B16A-F3B56CD43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D6E55D-2149-4A74-9195-E47B8773E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520EA-350A-472A-A5FC-125ACB41AE55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65B33A-5856-496F-AFC2-8270FC7EB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F24F38-6D06-40E3-9912-0FE52FF8C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157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4F60486-796E-454A-A0AA-196F8BADE0A3}"/>
              </a:ext>
            </a:extLst>
          </p:cNvPr>
          <p:cNvSpPr/>
          <p:nvPr/>
        </p:nvSpPr>
        <p:spPr>
          <a:xfrm>
            <a:off x="928564" y="295571"/>
            <a:ext cx="104682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Программирование для Интернет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1009B-99B0-4A34-BBFB-AB713D13F511}"/>
              </a:ext>
            </a:extLst>
          </p:cNvPr>
          <p:cNvSpPr/>
          <p:nvPr/>
        </p:nvSpPr>
        <p:spPr>
          <a:xfrm>
            <a:off x="479119" y="1141064"/>
            <a:ext cx="973305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Лекция </a:t>
            </a:r>
            <a:r>
              <a:rPr lang="en-US" sz="4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3</a:t>
            </a:r>
            <a:r>
              <a:rPr lang="ru-RU" sz="4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. </a:t>
            </a:r>
            <a:r>
              <a:rPr lang="en-US" sz="4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HTML </a:t>
            </a:r>
            <a:r>
              <a:rPr lang="ru-RU" sz="4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формы</a:t>
            </a:r>
            <a:r>
              <a:rPr lang="en-US" sz="4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.</a:t>
            </a:r>
            <a:r>
              <a:rPr lang="en-US" sz="4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4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Основы </a:t>
            </a:r>
            <a:r>
              <a:rPr lang="en-US" sz="40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Javascript</a:t>
            </a:r>
            <a:endParaRPr lang="ru-RU" sz="40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E4F764F-44B3-405F-962C-BE9BBA9634EE}"/>
              </a:ext>
            </a:extLst>
          </p:cNvPr>
          <p:cNvSpPr/>
          <p:nvPr/>
        </p:nvSpPr>
        <p:spPr>
          <a:xfrm>
            <a:off x="589726" y="1698475"/>
            <a:ext cx="11145925" cy="470898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Содержание лекции: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HTML </a:t>
            </a:r>
            <a:r>
              <a:rPr lang="ru-RU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формы. </a:t>
            </a:r>
            <a:endParaRPr lang="en-US" sz="3000" b="1" dirty="0" smtClean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 err="1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Javascript</a:t>
            </a:r>
            <a:r>
              <a:rPr lang="en-US" sz="3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команды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Переменные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Операторы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Всплывающие окна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Функции.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Циклы.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События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Специальные операторы. Специальные символы.</a:t>
            </a:r>
            <a:endParaRPr lang="en-US" sz="30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53322B3-FD41-4BBC-89C6-20CAA8F79712}"/>
              </a:ext>
            </a:extLst>
          </p:cNvPr>
          <p:cNvSpPr/>
          <p:nvPr/>
        </p:nvSpPr>
        <p:spPr>
          <a:xfrm>
            <a:off x="163784" y="6221084"/>
            <a:ext cx="10123733" cy="5078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7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Преподаватель курса: Нефедов Денис Геннадьевич, к.т.н., доцент</a:t>
            </a:r>
          </a:p>
        </p:txBody>
      </p:sp>
    </p:spTree>
    <p:extLst>
      <p:ext uri="{BB962C8B-B14F-4D97-AF65-F5344CB8AC3E}">
        <p14:creationId xmlns:p14="http://schemas.microsoft.com/office/powerpoint/2010/main" val="26557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E4F764F-44B3-405F-962C-BE9BBA9634EE}"/>
              </a:ext>
            </a:extLst>
          </p:cNvPr>
          <p:cNvSpPr/>
          <p:nvPr/>
        </p:nvSpPr>
        <p:spPr>
          <a:xfrm>
            <a:off x="432878" y="877061"/>
            <a:ext cx="11680743" cy="59400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HTML формы могут содержать такие элементы ввода как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Текстовые поля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Флажки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Радио-кнопки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Кнопки отправления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Списки выбора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Многострочные текстовые поля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Метки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др</a:t>
            </a:r>
            <a:endParaRPr lang="ru-RU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создания </a:t>
            </a:r>
            <a:r>
              <a:rPr lang="ru-RU" sz="2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формы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в HTML используется элемент &lt;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form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</a:p>
          <a:p>
            <a:pPr marL="363538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&lt;form&gt;</a:t>
            </a:r>
          </a:p>
          <a:p>
            <a:pPr marL="363538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&lt;p&gt;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Введите ваше имя:&lt;/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p&gt;</a:t>
            </a:r>
          </a:p>
          <a:p>
            <a:pPr marL="363538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&lt;input type="text" /&gt;</a:t>
            </a:r>
          </a:p>
          <a:p>
            <a:pPr marL="363538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&lt;p&gt;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Введите пароль: &lt;/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p&gt;</a:t>
            </a:r>
          </a:p>
          <a:p>
            <a:pPr marL="363538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&lt;input type="password" /&gt;</a:t>
            </a:r>
          </a:p>
          <a:p>
            <a:pPr marL="363538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&lt;/form&gt;</a:t>
            </a:r>
            <a:endParaRPr lang="ru-RU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4F60486-796E-454A-A0AA-196F8BADE0A3}"/>
              </a:ext>
            </a:extLst>
          </p:cNvPr>
          <p:cNvSpPr/>
          <p:nvPr/>
        </p:nvSpPr>
        <p:spPr>
          <a:xfrm>
            <a:off x="4510470" y="169175"/>
            <a:ext cx="317106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HTML </a:t>
            </a:r>
            <a:r>
              <a:rPr lang="ru-RU" sz="40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формы</a:t>
            </a:r>
            <a:endParaRPr lang="en-US" sz="4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35082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E4F764F-44B3-405F-962C-BE9BBA9634EE}"/>
              </a:ext>
            </a:extLst>
          </p:cNvPr>
          <p:cNvSpPr/>
          <p:nvPr/>
        </p:nvSpPr>
        <p:spPr>
          <a:xfrm>
            <a:off x="511257" y="339179"/>
            <a:ext cx="11322155" cy="57246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Элементы ввода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используются для приема пользовательских 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данных.</a:t>
            </a:r>
          </a:p>
          <a:p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Отличаются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друг от друга в зависимости от значения атрибута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" /&gt; определяет 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однострочное текстовое поле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, в которое пользователь может вводить различную информацию.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" /&gt; определяет 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поле для ввода пароля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. Содержимое вводимое в данное поле закрывается черными кружками позволяя вводить пароли даже в присутствии посторонних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checkbox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" /&gt; определяет 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флажок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. Флажки позволяют пользователям выбирать несколько пунктов с предварительно заполненной информацией из группы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radio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" /&gt; определяет 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радио кнопку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. Радио кнопки позволяют пользователям выбрать только один пункт с предварительно заполненной информацией из группы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submit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" /&gt; определяет 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кнопку отправления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. После нажатия на данную кнопку данные введенные пользователем будут отправлены на сервер.</a:t>
            </a:r>
          </a:p>
        </p:txBody>
      </p:sp>
    </p:spTree>
    <p:extLst>
      <p:ext uri="{BB962C8B-B14F-4D97-AF65-F5344CB8AC3E}">
        <p14:creationId xmlns:p14="http://schemas.microsoft.com/office/powerpoint/2010/main" val="4191089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E4F764F-44B3-405F-962C-BE9BBA9634EE}"/>
              </a:ext>
            </a:extLst>
          </p:cNvPr>
          <p:cNvSpPr/>
          <p:nvPr/>
        </p:nvSpPr>
        <p:spPr>
          <a:xfrm>
            <a:off x="511257" y="339179"/>
            <a:ext cx="11322155" cy="63401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Для создания 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выпадающих списков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используется тэг &lt;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&gt;, а 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элементы выпадающего списка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определяются с помощью тэга &lt;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&gt;. С помощью атрибута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multiple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Вы можете указать, что в выпадающем списке могут быть выбраны одновременно несколько элементов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8163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&lt;p&gt;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В данном списке может быть одновременно выбрано несколько значений (для этого зажмите клавишу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Ctrl 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и щелкайте на необходимые элементы): &lt;/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p&gt;</a:t>
            </a:r>
          </a:p>
          <a:p>
            <a:pPr marL="538163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&lt;form&gt;</a:t>
            </a:r>
          </a:p>
          <a:p>
            <a:pPr marL="538163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&lt;select name='city' multiple='multiple'&gt;</a:t>
            </a:r>
          </a:p>
          <a:p>
            <a:pPr marL="538163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&lt;option value='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london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'&gt;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Лондон&lt;/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option&gt;</a:t>
            </a:r>
          </a:p>
          <a:p>
            <a:pPr marL="538163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&lt;option value='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moscow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'&gt;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Москва&lt;/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option&gt;</a:t>
            </a:r>
          </a:p>
          <a:p>
            <a:pPr marL="538163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&lt;option value='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newyork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'&gt;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Нью Йорк&lt;/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option&gt;</a:t>
            </a:r>
          </a:p>
          <a:p>
            <a:pPr marL="538163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&lt;/select&gt;</a:t>
            </a:r>
          </a:p>
          <a:p>
            <a:pPr marL="538163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&lt;/form</a:t>
            </a:r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ru-RU" sz="2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8163"/>
            <a:endParaRPr lang="ru-RU" sz="1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Для того, чтобы озаглавить группу элементов формы, 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необходимо с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помощью тэга &lt;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fieldset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&gt; сгруппировать желаемую часть формы и затем с помощью тэга &lt;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legend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&gt; установить желаемое заглавие</a:t>
            </a:r>
            <a:r>
              <a:rPr lang="ru-R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546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4F60486-796E-454A-A0AA-196F8BADE0A3}"/>
              </a:ext>
            </a:extLst>
          </p:cNvPr>
          <p:cNvSpPr/>
          <p:nvPr/>
        </p:nvSpPr>
        <p:spPr>
          <a:xfrm>
            <a:off x="4035532" y="81493"/>
            <a:ext cx="412093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Основы </a:t>
            </a:r>
            <a:r>
              <a:rPr lang="en-US" sz="4000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Javascript</a:t>
            </a:r>
            <a:endParaRPr lang="en-US" sz="4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E4F764F-44B3-405F-962C-BE9BBA9634EE}"/>
              </a:ext>
            </a:extLst>
          </p:cNvPr>
          <p:cNvSpPr/>
          <p:nvPr/>
        </p:nvSpPr>
        <p:spPr>
          <a:xfrm>
            <a:off x="368442" y="682531"/>
            <a:ext cx="11581388" cy="609397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0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Javascript</a:t>
            </a:r>
            <a:r>
              <a:rPr lang="ru-RU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создан в 1995 г. как инструмент, предоставляющий веб-дизайнерам возможности программирования.</a:t>
            </a:r>
          </a:p>
          <a:p>
            <a:r>
              <a:rPr lang="ru-RU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Позволяет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Динамически изменять содержимое веб-страниц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Привязывать к элементам обработчики событий (функции, которые выполняют свой код только после того, как совершатся определенные действия)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Выполнять код через заданные промежутки времени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Управлять поведением браузера (открывать новые окна, загружать указанные документы и т.д.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Создавать и считывать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cookies</a:t>
            </a:r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Определение используемого браузера пользователя, ОС, разрешения экрана, историю посещения страниц и пр.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Проверять данные форм перед отправкой их на сервер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 др.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встраивается в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HTML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страницы и исполняется браузером во время их загрузки</a:t>
            </a:r>
            <a:endParaRPr lang="ru-RU" sz="30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90321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E4F764F-44B3-405F-962C-BE9BBA9634EE}"/>
              </a:ext>
            </a:extLst>
          </p:cNvPr>
          <p:cNvSpPr/>
          <p:nvPr/>
        </p:nvSpPr>
        <p:spPr>
          <a:xfrm>
            <a:off x="431072" y="733246"/>
            <a:ext cx="11581388" cy="61247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С помощью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создаются 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интерактивные веб-страницы.</a:t>
            </a:r>
          </a:p>
          <a:p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добавляется на веб-страницы с помощью тэга 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script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Пример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alt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script</a:t>
            </a:r>
            <a:r>
              <a:rPr lang="ru-RU" alt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alt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ru-RU" alt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ru-RU" alt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ru-RU" alt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ru-RU" alt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javascript</a:t>
            </a:r>
            <a:r>
              <a:rPr lang="ru-RU" alt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ru-RU" alt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("Данный текст выведен на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		страницу с помощью </a:t>
            </a:r>
            <a:r>
              <a:rPr lang="ru-RU" alt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JavaScript</a:t>
            </a:r>
            <a:r>
              <a:rPr lang="ru-RU" alt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.");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ru-RU" alt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script</a:t>
            </a:r>
            <a:r>
              <a:rPr lang="ru-RU" alt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Атрибут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тэга &lt;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script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&gt; указывает браузеру какой скриптовый язык мы встраиваем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document.write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() - это команда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позволяющая выводить произвольное содержимое на страницу;</a:t>
            </a:r>
          </a:p>
          <a:p>
            <a:endParaRPr lang="ru-RU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Chrome, Safari, Opera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Internet Explorer 8+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имеются встроенные отладчики, которые можно вызвать с помощью нажатия клавиши </a:t>
            </a:r>
            <a:r>
              <a:rPr lang="en-US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F12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(Chrome, Safari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IE)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или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Ctrl+Shift+I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(Opera)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при просмотре страниц.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F9798AA-35C8-42C7-8DAE-DD7FE5C10538}"/>
              </a:ext>
            </a:extLst>
          </p:cNvPr>
          <p:cNvSpPr/>
          <p:nvPr/>
        </p:nvSpPr>
        <p:spPr>
          <a:xfrm>
            <a:off x="3340600" y="81493"/>
            <a:ext cx="551080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Подключение </a:t>
            </a:r>
            <a:r>
              <a:rPr lang="en-US" sz="4000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Javascript</a:t>
            </a:r>
            <a:endParaRPr lang="en-US" sz="4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18739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E4F764F-44B3-405F-962C-BE9BBA9634EE}"/>
              </a:ext>
            </a:extLst>
          </p:cNvPr>
          <p:cNvSpPr/>
          <p:nvPr/>
        </p:nvSpPr>
        <p:spPr>
          <a:xfrm>
            <a:off x="164926" y="156437"/>
            <a:ext cx="11862148" cy="69865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Расположение на странице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в &lt;</a:t>
            </a:r>
            <a:r>
              <a:rPr lang="en-US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head&gt;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.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Чтобы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код не смешивался с HTML разметкой.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в &lt;</a:t>
            </a:r>
            <a:r>
              <a:rPr lang="en-US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body&gt;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.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Если не нужно, чтобы скрипт начал выполняться до полной загрузки документа, то он располагается в конце секции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во внешнем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текстовом 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файле с расширением .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js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. Как и обычные скрипты, подключается к страницам с помощью тэга &lt;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script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&gt;, однако в этом случае содержимое тэга должно оставаться пустым и к нему должен быть добавлен атрибут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содержащий адрес внешнего .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файла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8163"/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&lt;!-- Содержимое файла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ex.js: '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Данный текст был выведен на страницу с помощью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JavaScript.")' --&gt;</a:t>
            </a:r>
          </a:p>
          <a:p>
            <a:pPr marL="538163"/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&lt;script type="text/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javascript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="ex.js"&gt;&lt;/script&gt;</a:t>
            </a:r>
          </a:p>
          <a:p>
            <a:pPr marL="538163"/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команды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дают возможность «общаться» с браузером.</a:t>
            </a:r>
          </a:p>
          <a:p>
            <a:pPr indent="363538"/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- выводит произвольное содержимое на страницу</a:t>
            </a:r>
          </a:p>
          <a:p>
            <a:pPr indent="363538"/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Могут объединяться в блоки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команд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“{  }”</a:t>
            </a:r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комментарии</a:t>
            </a:r>
          </a:p>
          <a:p>
            <a:pPr indent="363538"/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Короткие - длина которых не превышает длину строки. Используется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//</a:t>
            </a:r>
          </a:p>
          <a:p>
            <a:pPr indent="363538"/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Многострочные - длина которых может превышать длину строки.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Используется </a:t>
            </a:r>
            <a:r>
              <a:rPr lang="ru-RU" sz="2400" b="1" dirty="0"/>
              <a:t>/* */</a:t>
            </a:r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38163"/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685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456389-1286-462C-9813-9365F0326E9D}"/>
              </a:ext>
            </a:extLst>
          </p:cNvPr>
          <p:cNvSpPr/>
          <p:nvPr/>
        </p:nvSpPr>
        <p:spPr>
          <a:xfrm>
            <a:off x="4543622" y="81493"/>
            <a:ext cx="310476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Переменные</a:t>
            </a:r>
            <a:endParaRPr lang="en-US" sz="4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338203" y="789379"/>
            <a:ext cx="11736887" cy="584775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Объявляются с помощью команды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var</a:t>
            </a:r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ex1;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//Создаем переменную с именем ex1</a:t>
            </a:r>
          </a:p>
          <a:p>
            <a:pPr>
              <a:spcBef>
                <a:spcPts val="1200"/>
              </a:spcBef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Загрузка значений в переменные в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выполняется с помощью оператора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v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ex1=4;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//Создаем переменную с именем ex1 содержащую 				//значение 4</a:t>
            </a:r>
          </a:p>
          <a:p>
            <a:pPr>
              <a:spcBef>
                <a:spcPts val="1200"/>
              </a:spcBef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Для записи текста в строковую переменную используются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кавычки "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или   ‘.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='Привет всем!’; 		</a:t>
            </a:r>
            <a:r>
              <a:rPr lang="ru-RU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//Запишем в переменную </a:t>
            </a:r>
            <a:r>
              <a:rPr lang="ru-RU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</a:t>
            </a:r>
            <a:r>
              <a:rPr lang="ru-RU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строку 						//'Привет всем!’</a:t>
            </a:r>
          </a:p>
          <a:p>
            <a:pPr>
              <a:spcBef>
                <a:spcPts val="1200"/>
              </a:spcBef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Объявление без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создает глобальную переменную, с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– локальную (в пределах одной функции)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ex2=20;  	</a:t>
            </a:r>
            <a:r>
              <a:rPr lang="ru-RU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//Создадим новую переменную без </a:t>
            </a:r>
            <a:r>
              <a:rPr lang="ru-RU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endParaRPr lang="ru-RU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1200"/>
              </a:spcBef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Удаление переменной</a:t>
            </a:r>
          </a:p>
          <a:p>
            <a:pPr>
              <a:spcBef>
                <a:spcPts val="1200"/>
              </a:spcBef>
            </a:pP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 ex;</a:t>
            </a:r>
            <a:r>
              <a:rPr lang="ru-RU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//если она не была объявлена с помощью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ts val="1200"/>
              </a:spcBef>
            </a:pP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t-IT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ex=null;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или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ex=undefined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// если объявлена с помощью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it-IT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083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456389-1286-462C-9813-9365F0326E9D}"/>
              </a:ext>
            </a:extLst>
          </p:cNvPr>
          <p:cNvSpPr/>
          <p:nvPr/>
        </p:nvSpPr>
        <p:spPr>
          <a:xfrm>
            <a:off x="4744286" y="81493"/>
            <a:ext cx="270343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Операторы</a:t>
            </a:r>
            <a:endParaRPr lang="en-US" sz="4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279747" y="578113"/>
            <a:ext cx="11736887" cy="86177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Арифметические операторы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используются для выполнения арифметических операций над переменными или значениями. 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Пусть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x=7</a:t>
            </a: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it-IT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57D4FE3-306B-4F6E-8FB9-B189788F0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866891"/>
              </p:ext>
            </p:extLst>
          </p:nvPr>
        </p:nvGraphicFramePr>
        <p:xfrm>
          <a:off x="412656" y="1568224"/>
          <a:ext cx="11366687" cy="3721552"/>
        </p:xfrm>
        <a:graphic>
          <a:graphicData uri="http://schemas.openxmlformats.org/drawingml/2006/table">
            <a:tbl>
              <a:tblPr/>
              <a:tblGrid>
                <a:gridCol w="1258182">
                  <a:extLst>
                    <a:ext uri="{9D8B030D-6E8A-4147-A177-3AD203B41FA5}">
                      <a16:colId xmlns:a16="http://schemas.microsoft.com/office/drawing/2014/main" val="3348420020"/>
                    </a:ext>
                  </a:extLst>
                </a:gridCol>
                <a:gridCol w="7497512">
                  <a:extLst>
                    <a:ext uri="{9D8B030D-6E8A-4147-A177-3AD203B41FA5}">
                      <a16:colId xmlns:a16="http://schemas.microsoft.com/office/drawing/2014/main" val="888710425"/>
                    </a:ext>
                  </a:extLst>
                </a:gridCol>
                <a:gridCol w="1365337">
                  <a:extLst>
                    <a:ext uri="{9D8B030D-6E8A-4147-A177-3AD203B41FA5}">
                      <a16:colId xmlns:a16="http://schemas.microsoft.com/office/drawing/2014/main" val="1376146242"/>
                    </a:ext>
                  </a:extLst>
                </a:gridCol>
                <a:gridCol w="1245656">
                  <a:extLst>
                    <a:ext uri="{9D8B030D-6E8A-4147-A177-3AD203B41FA5}">
                      <a16:colId xmlns:a16="http://schemas.microsoft.com/office/drawing/2014/main" val="1749014700"/>
                    </a:ext>
                  </a:extLst>
                </a:gridCol>
              </a:tblGrid>
              <a:tr h="328918">
                <a:tc>
                  <a:txBody>
                    <a:bodyPr/>
                    <a:lstStyle/>
                    <a:p>
                      <a:pPr algn="l"/>
                      <a:r>
                        <a:rPr lang="ru-RU" sz="2200" dirty="0">
                          <a:solidFill>
                            <a:srgbClr val="FFFFFF"/>
                          </a:solidFill>
                          <a:effectLst/>
                        </a:rPr>
                        <a:t>Оператор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F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200" dirty="0">
                          <a:solidFill>
                            <a:srgbClr val="FFFFFF"/>
                          </a:solidFill>
                          <a:effectLst/>
                        </a:rPr>
                        <a:t>Описание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F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200">
                          <a:solidFill>
                            <a:srgbClr val="FFFFFF"/>
                          </a:solidFill>
                          <a:effectLst/>
                        </a:rPr>
                        <a:t>Пример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F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200" dirty="0">
                          <a:solidFill>
                            <a:srgbClr val="FFFFFF"/>
                          </a:solidFill>
                          <a:effectLst/>
                        </a:rPr>
                        <a:t>Результат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F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249021"/>
                  </a:ext>
                </a:extLst>
              </a:tr>
              <a:tr h="328918">
                <a:tc>
                  <a:txBody>
                    <a:bodyPr/>
                    <a:lstStyle/>
                    <a:p>
                      <a:r>
                        <a:rPr lang="ru-RU" sz="2200" b="1">
                          <a:effectLst/>
                        </a:rPr>
                        <a:t>+</a:t>
                      </a:r>
                      <a:endParaRPr lang="ru-RU" sz="2200">
                        <a:effectLst/>
                      </a:endParaRP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effectLst/>
                        </a:rPr>
                        <a:t>Выполняет сложение чисел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effectLst/>
                        </a:rPr>
                        <a:t>y=x+10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effectLst/>
                        </a:rPr>
                        <a:t>y=17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848648"/>
                  </a:ext>
                </a:extLst>
              </a:tr>
              <a:tr h="328918">
                <a:tc>
                  <a:txBody>
                    <a:bodyPr/>
                    <a:lstStyle/>
                    <a:p>
                      <a:r>
                        <a:rPr lang="ru-RU" sz="2200" b="1">
                          <a:effectLst/>
                        </a:rPr>
                        <a:t>-</a:t>
                      </a:r>
                      <a:endParaRPr lang="ru-RU" sz="2200">
                        <a:effectLst/>
                      </a:endParaRP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effectLst/>
                        </a:rPr>
                        <a:t>Выполняет вычитание чисел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effectLst/>
                        </a:rPr>
                        <a:t>y=x-3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effectLst/>
                        </a:rPr>
                        <a:t>y=4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580971"/>
                  </a:ext>
                </a:extLst>
              </a:tr>
              <a:tr h="328918">
                <a:tc>
                  <a:txBody>
                    <a:bodyPr/>
                    <a:lstStyle/>
                    <a:p>
                      <a:r>
                        <a:rPr lang="ru-RU" sz="2200" b="1">
                          <a:effectLst/>
                        </a:rPr>
                        <a:t>*</a:t>
                      </a:r>
                      <a:endParaRPr lang="ru-RU" sz="2200">
                        <a:effectLst/>
                      </a:endParaRP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effectLst/>
                        </a:rPr>
                        <a:t>Выполняет умножение чисел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effectLst/>
                        </a:rPr>
                        <a:t>y=x*4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effectLst/>
                        </a:rPr>
                        <a:t>y=28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318441"/>
                  </a:ext>
                </a:extLst>
              </a:tr>
              <a:tr h="328918">
                <a:tc>
                  <a:txBody>
                    <a:bodyPr/>
                    <a:lstStyle/>
                    <a:p>
                      <a:r>
                        <a:rPr lang="ru-RU" sz="2200" b="1">
                          <a:effectLst/>
                        </a:rPr>
                        <a:t>/</a:t>
                      </a:r>
                      <a:endParaRPr lang="ru-RU" sz="2200">
                        <a:effectLst/>
                      </a:endParaRP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effectLst/>
                        </a:rPr>
                        <a:t>Выполняет деление чисел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effectLst/>
                        </a:rPr>
                        <a:t>y=x/2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effectLst/>
                        </a:rPr>
                        <a:t>y=3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027625"/>
                  </a:ext>
                </a:extLst>
              </a:tr>
              <a:tr h="328918">
                <a:tc>
                  <a:txBody>
                    <a:bodyPr/>
                    <a:lstStyle/>
                    <a:p>
                      <a:r>
                        <a:rPr lang="ru-RU" sz="2200" b="1">
                          <a:effectLst/>
                        </a:rPr>
                        <a:t>%</a:t>
                      </a:r>
                      <a:endParaRPr lang="ru-RU" sz="2200">
                        <a:effectLst/>
                      </a:endParaRP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effectLst/>
                        </a:rPr>
                        <a:t>Вычисляет остаток от деления чисел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effectLst/>
                        </a:rPr>
                        <a:t>y=x%2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effectLst/>
                        </a:rPr>
                        <a:t>y=1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278335"/>
                  </a:ext>
                </a:extLst>
              </a:tr>
              <a:tr h="618081">
                <a:tc>
                  <a:txBody>
                    <a:bodyPr/>
                    <a:lstStyle/>
                    <a:p>
                      <a:r>
                        <a:rPr lang="ru-RU" sz="2200" b="1">
                          <a:effectLst/>
                        </a:rPr>
                        <a:t>++</a:t>
                      </a:r>
                      <a:endParaRPr lang="ru-RU" sz="2200">
                        <a:effectLst/>
                      </a:endParaRP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200">
                          <a:effectLst/>
                        </a:rPr>
                        <a:t>Увеличивает значение на 1 и возвращает новое значение </a:t>
                      </a:r>
                      <a:br>
                        <a:rPr lang="ru-RU" sz="2200">
                          <a:effectLst/>
                        </a:rPr>
                      </a:br>
                      <a:r>
                        <a:rPr lang="ru-RU" sz="2200">
                          <a:effectLst/>
                        </a:rPr>
                        <a:t>Увеличивает значение на 1 и возвращает старое значение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effectLst/>
                        </a:rPr>
                        <a:t>y=++x </a:t>
                      </a:r>
                      <a:br>
                        <a:rPr lang="en-US" sz="2200" dirty="0">
                          <a:effectLst/>
                        </a:rPr>
                      </a:br>
                      <a:r>
                        <a:rPr lang="en-US" sz="2200" dirty="0">
                          <a:effectLst/>
                        </a:rPr>
                        <a:t>y=x++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200">
                          <a:effectLst/>
                        </a:rPr>
                        <a:t>y=8, x=8 </a:t>
                      </a:r>
                      <a:br>
                        <a:rPr lang="es-ES" sz="2200">
                          <a:effectLst/>
                        </a:rPr>
                      </a:br>
                      <a:r>
                        <a:rPr lang="es-ES" sz="2200">
                          <a:effectLst/>
                        </a:rPr>
                        <a:t>y=7, x=8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22027"/>
                  </a:ext>
                </a:extLst>
              </a:tr>
              <a:tr h="618081">
                <a:tc>
                  <a:txBody>
                    <a:bodyPr/>
                    <a:lstStyle/>
                    <a:p>
                      <a:r>
                        <a:rPr lang="ru-RU" sz="2200" b="1" dirty="0">
                          <a:effectLst/>
                        </a:rPr>
                        <a:t>--</a:t>
                      </a:r>
                      <a:endParaRPr lang="ru-RU" sz="2200" dirty="0">
                        <a:effectLst/>
                      </a:endParaRP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effectLst/>
                        </a:rPr>
                        <a:t>Уменьшает значение на 1 и возвращает новое значение </a:t>
                      </a:r>
                      <a:br>
                        <a:rPr lang="ru-RU" sz="2200" dirty="0">
                          <a:effectLst/>
                        </a:rPr>
                      </a:br>
                      <a:r>
                        <a:rPr lang="ru-RU" sz="2200" dirty="0">
                          <a:effectLst/>
                        </a:rPr>
                        <a:t>Уменьшает значение на 1 и возвращает старое значение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effectLst/>
                        </a:rPr>
                        <a:t>y=--x </a:t>
                      </a:r>
                      <a:br>
                        <a:rPr lang="en-US" sz="2200" dirty="0">
                          <a:effectLst/>
                        </a:rPr>
                      </a:br>
                      <a:r>
                        <a:rPr lang="en-US" sz="2200" dirty="0">
                          <a:effectLst/>
                        </a:rPr>
                        <a:t>y=x--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2200" dirty="0">
                          <a:effectLst/>
                        </a:rPr>
                        <a:t>y=6, x=6 </a:t>
                      </a:r>
                      <a:br>
                        <a:rPr lang="es-ES" sz="2200" dirty="0">
                          <a:effectLst/>
                        </a:rPr>
                      </a:br>
                      <a:r>
                        <a:rPr lang="es-ES" sz="2200" dirty="0">
                          <a:effectLst/>
                        </a:rPr>
                        <a:t>y=7, x=6</a:t>
                      </a:r>
                    </a:p>
                  </a:txBody>
                  <a:tcPr marL="23047" marR="23047" marT="23047" marB="23047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984397"/>
                  </a:ext>
                </a:extLst>
              </a:tr>
            </a:tbl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E483712-545B-48C8-9E5F-4C3F6B4FF7C1}"/>
              </a:ext>
            </a:extLst>
          </p:cNvPr>
          <p:cNvSpPr/>
          <p:nvPr/>
        </p:nvSpPr>
        <p:spPr>
          <a:xfrm>
            <a:off x="279747" y="5468456"/>
            <a:ext cx="1149959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Если оператор + используется со строковыми переменными он выполняет объединение строк, хранящихся в них.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Результатом сложения строки и числа всегда будет строка</a:t>
            </a:r>
          </a:p>
        </p:txBody>
      </p:sp>
    </p:spTree>
    <p:extLst>
      <p:ext uri="{BB962C8B-B14F-4D97-AF65-F5344CB8AC3E}">
        <p14:creationId xmlns:p14="http://schemas.microsoft.com/office/powerpoint/2010/main" val="2731060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456389-1286-462C-9813-9365F0326E9D}"/>
              </a:ext>
            </a:extLst>
          </p:cNvPr>
          <p:cNvSpPr/>
          <p:nvPr/>
        </p:nvSpPr>
        <p:spPr>
          <a:xfrm>
            <a:off x="223496" y="94019"/>
            <a:ext cx="367825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Операторы сравнения</a:t>
            </a:r>
            <a:endParaRPr lang="en-US" sz="2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7CED2C12-A913-449B-80A8-2F3199791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765114"/>
              </p:ext>
            </p:extLst>
          </p:nvPr>
        </p:nvGraphicFramePr>
        <p:xfrm>
          <a:off x="346553" y="617239"/>
          <a:ext cx="11528121" cy="3479990"/>
        </p:xfrm>
        <a:graphic>
          <a:graphicData uri="http://schemas.openxmlformats.org/drawingml/2006/table">
            <a:tbl>
              <a:tblPr/>
              <a:tblGrid>
                <a:gridCol w="492691">
                  <a:extLst>
                    <a:ext uri="{9D8B030D-6E8A-4147-A177-3AD203B41FA5}">
                      <a16:colId xmlns:a16="http://schemas.microsoft.com/office/drawing/2014/main" val="3527535851"/>
                    </a:ext>
                  </a:extLst>
                </a:gridCol>
                <a:gridCol w="9319478">
                  <a:extLst>
                    <a:ext uri="{9D8B030D-6E8A-4147-A177-3AD203B41FA5}">
                      <a16:colId xmlns:a16="http://schemas.microsoft.com/office/drawing/2014/main" val="3522675784"/>
                    </a:ext>
                  </a:extLst>
                </a:gridCol>
                <a:gridCol w="962816">
                  <a:extLst>
                    <a:ext uri="{9D8B030D-6E8A-4147-A177-3AD203B41FA5}">
                      <a16:colId xmlns:a16="http://schemas.microsoft.com/office/drawing/2014/main" val="417040864"/>
                    </a:ext>
                  </a:extLst>
                </a:gridCol>
                <a:gridCol w="753136">
                  <a:extLst>
                    <a:ext uri="{9D8B030D-6E8A-4147-A177-3AD203B41FA5}">
                      <a16:colId xmlns:a16="http://schemas.microsoft.com/office/drawing/2014/main" val="2238220978"/>
                    </a:ext>
                  </a:extLst>
                </a:gridCol>
              </a:tblGrid>
              <a:tr h="232529"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==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Проверяет переменные или значения на равенство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x==7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true</a:t>
                      </a:r>
                      <a:endParaRPr lang="en-US" sz="2000" dirty="0">
                        <a:effectLst/>
                      </a:endParaRP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831141"/>
                  </a:ext>
                </a:extLst>
              </a:tr>
              <a:tr h="444915"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===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Проверяет переменные или значения на равенство учитывая тип переменной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x===7</a:t>
                      </a:r>
                      <a:br>
                        <a:rPr lang="en-US" sz="2000">
                          <a:effectLst/>
                        </a:rPr>
                      </a:br>
                      <a:r>
                        <a:rPr lang="en-US" sz="2000">
                          <a:effectLst/>
                        </a:rPr>
                        <a:t>x==="7"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effectLst/>
                        </a:rPr>
                        <a:t>true</a:t>
                      </a:r>
                      <a:r>
                        <a:rPr lang="en-US" sz="2000">
                          <a:effectLst/>
                        </a:rPr>
                        <a:t/>
                      </a:r>
                      <a:br>
                        <a:rPr lang="en-US" sz="2000">
                          <a:effectLst/>
                        </a:rPr>
                      </a:br>
                      <a:r>
                        <a:rPr lang="en-US" sz="2000" b="1">
                          <a:effectLst/>
                        </a:rPr>
                        <a:t>false</a:t>
                      </a:r>
                      <a:endParaRPr lang="en-US" sz="2000">
                        <a:effectLst/>
                      </a:endParaRP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736946"/>
                  </a:ext>
                </a:extLst>
              </a:tr>
              <a:tr h="232529"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!=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Проверяет различаются ли переменные или значения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x!=9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effectLst/>
                        </a:rPr>
                        <a:t>true</a:t>
                      </a:r>
                      <a:endParaRPr lang="en-US" sz="2000">
                        <a:effectLst/>
                      </a:endParaRP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058621"/>
                  </a:ext>
                </a:extLst>
              </a:tr>
              <a:tr h="444915"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&gt;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Проверяет больше ли переменная или значение стоящее слева, чем стоящее справа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x&gt;13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effectLst/>
                        </a:rPr>
                        <a:t>false</a:t>
                      </a:r>
                      <a:endParaRPr lang="en-US" sz="2000">
                        <a:effectLst/>
                      </a:endParaRP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473643"/>
                  </a:ext>
                </a:extLst>
              </a:tr>
              <a:tr h="444915"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&lt;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Проверяет меньше ли переменная или значение стоящее слева, чем стоящее справа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x&lt;13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effectLst/>
                        </a:rPr>
                        <a:t>true</a:t>
                      </a:r>
                      <a:endParaRPr lang="en-US" sz="2000">
                        <a:effectLst/>
                      </a:endParaRP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6441750"/>
                  </a:ext>
                </a:extLst>
              </a:tr>
              <a:tr h="444915"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&gt;=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Проверяет является ли переменная или значение стоящее слева большим или равным стоящему справа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x&gt;=13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dirty="0">
                          <a:effectLst/>
                        </a:rPr>
                        <a:t>x&gt;=7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false</a:t>
                      </a:r>
                      <a:r>
                        <a:rPr lang="en-US" sz="2000" dirty="0">
                          <a:effectLst/>
                        </a:rPr>
                        <a:t/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b="1" dirty="0">
                          <a:effectLst/>
                        </a:rPr>
                        <a:t>true</a:t>
                      </a:r>
                      <a:endParaRPr lang="en-US" sz="2000" dirty="0">
                        <a:effectLst/>
                      </a:endParaRP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550950"/>
                  </a:ext>
                </a:extLst>
              </a:tr>
              <a:tr h="444915"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&lt;=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Проверяет является ли переменная или значение стоящее слева меньшим или равным стоящему справа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x&lt;=13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dirty="0">
                          <a:effectLst/>
                        </a:rPr>
                        <a:t>x&lt;=7</a:t>
                      </a: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true</a:t>
                      </a:r>
                      <a:r>
                        <a:rPr lang="en-US" sz="2000" dirty="0">
                          <a:effectLst/>
                        </a:rPr>
                        <a:t/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b="1" dirty="0" err="1">
                          <a:effectLst/>
                        </a:rPr>
                        <a:t>true</a:t>
                      </a:r>
                      <a:endParaRPr lang="en-US" sz="2000" dirty="0">
                        <a:effectLst/>
                      </a:endParaRPr>
                    </a:p>
                  </a:txBody>
                  <a:tcPr marL="15176" marR="15176" marT="15176" marB="15176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82483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4492B72-8673-44CE-B10B-DF4844EEDFA1}"/>
              </a:ext>
            </a:extLst>
          </p:cNvPr>
          <p:cNvSpPr/>
          <p:nvPr/>
        </p:nvSpPr>
        <p:spPr>
          <a:xfrm>
            <a:off x="242169" y="4097229"/>
            <a:ext cx="11736887" cy="86177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Логические операторы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используются для связки нескольких операторов сравнения</a:t>
            </a:r>
          </a:p>
          <a:p>
            <a:r>
              <a:rPr lang="it-IT" sz="2200" dirty="0">
                <a:latin typeface="Arial" panose="020B0604020202020204" pitchFamily="34" charset="0"/>
                <a:cs typeface="Arial" panose="020B0604020202020204" pitchFamily="34" charset="0"/>
              </a:rPr>
              <a:t>x=2, y=9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6A88ED9B-8B3A-444E-A6CB-4308811EB2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744680"/>
              </p:ext>
            </p:extLst>
          </p:nvPr>
        </p:nvGraphicFramePr>
        <p:xfrm>
          <a:off x="372592" y="4954231"/>
          <a:ext cx="11502084" cy="1809750"/>
        </p:xfrm>
        <a:graphic>
          <a:graphicData uri="http://schemas.openxmlformats.org/drawingml/2006/table">
            <a:tbl>
              <a:tblPr/>
              <a:tblGrid>
                <a:gridCol w="1481260">
                  <a:extLst>
                    <a:ext uri="{9D8B030D-6E8A-4147-A177-3AD203B41FA5}">
                      <a16:colId xmlns:a16="http://schemas.microsoft.com/office/drawing/2014/main" val="3062097714"/>
                    </a:ext>
                  </a:extLst>
                </a:gridCol>
                <a:gridCol w="7189940">
                  <a:extLst>
                    <a:ext uri="{9D8B030D-6E8A-4147-A177-3AD203B41FA5}">
                      <a16:colId xmlns:a16="http://schemas.microsoft.com/office/drawing/2014/main" val="246569611"/>
                    </a:ext>
                  </a:extLst>
                </a:gridCol>
                <a:gridCol w="2054268">
                  <a:extLst>
                    <a:ext uri="{9D8B030D-6E8A-4147-A177-3AD203B41FA5}">
                      <a16:colId xmlns:a16="http://schemas.microsoft.com/office/drawing/2014/main" val="3632258151"/>
                    </a:ext>
                  </a:extLst>
                </a:gridCol>
                <a:gridCol w="776616">
                  <a:extLst>
                    <a:ext uri="{9D8B030D-6E8A-4147-A177-3AD203B41FA5}">
                      <a16:colId xmlns:a16="http://schemas.microsoft.com/office/drawing/2014/main" val="158536392"/>
                    </a:ext>
                  </a:extLst>
                </a:gridCol>
              </a:tblGrid>
              <a:tr h="335638"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&amp;&amp;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i="1" dirty="0">
                          <a:effectLst/>
                        </a:rPr>
                        <a:t>И</a:t>
                      </a:r>
                      <a:endParaRPr lang="ru-RU" sz="2000" dirty="0">
                        <a:effectLst/>
                      </a:endParaRP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dirty="0">
                          <a:effectLst/>
                        </a:rPr>
                        <a:t>(x==2 &amp;&amp; y==9)</a:t>
                      </a:r>
                      <a:br>
                        <a:rPr lang="es-ES" sz="2000" dirty="0">
                          <a:effectLst/>
                        </a:rPr>
                      </a:br>
                      <a:r>
                        <a:rPr lang="es-ES" sz="2000" dirty="0">
                          <a:effectLst/>
                        </a:rPr>
                        <a:t>(x==3 &amp;&amp; y==9)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effectLst/>
                        </a:rPr>
                        <a:t>true</a:t>
                      </a:r>
                      <a:r>
                        <a:rPr lang="en-US" sz="2000">
                          <a:effectLst/>
                        </a:rPr>
                        <a:t/>
                      </a:r>
                      <a:br>
                        <a:rPr lang="en-US" sz="2000">
                          <a:effectLst/>
                        </a:rPr>
                      </a:br>
                      <a:r>
                        <a:rPr lang="en-US" sz="2000" b="1">
                          <a:effectLst/>
                        </a:rPr>
                        <a:t>false</a:t>
                      </a:r>
                      <a:endParaRPr lang="en-US" sz="2000">
                        <a:effectLst/>
                      </a:endParaRP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432989"/>
                  </a:ext>
                </a:extLst>
              </a:tr>
              <a:tr h="335638"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||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i="1" dirty="0">
                          <a:effectLst/>
                        </a:rPr>
                        <a:t>ИЛИ</a:t>
                      </a:r>
                      <a:endParaRPr lang="ru-RU" sz="2000" dirty="0">
                        <a:effectLst/>
                      </a:endParaRP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dirty="0">
                          <a:effectLst/>
                        </a:rPr>
                        <a:t>(x==2 || y==8)</a:t>
                      </a:r>
                      <a:br>
                        <a:rPr lang="es-ES" sz="2000" dirty="0">
                          <a:effectLst/>
                        </a:rPr>
                      </a:br>
                      <a:r>
                        <a:rPr lang="es-ES" sz="2000" dirty="0">
                          <a:effectLst/>
                        </a:rPr>
                        <a:t>(x==5 || y==6)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true</a:t>
                      </a:r>
                      <a:r>
                        <a:rPr lang="en-US" sz="2000" dirty="0">
                          <a:effectLst/>
                        </a:rPr>
                        <a:t/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b="1" dirty="0">
                          <a:effectLst/>
                        </a:rPr>
                        <a:t>false</a:t>
                      </a:r>
                      <a:endParaRPr lang="en-US" sz="2000" dirty="0">
                        <a:effectLst/>
                      </a:endParaRP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577939"/>
                  </a:ext>
                </a:extLst>
              </a:tr>
              <a:tr h="190497"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!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i="1">
                          <a:effectLst/>
                        </a:rPr>
                        <a:t>НЕ</a:t>
                      </a:r>
                      <a:endParaRPr lang="ru-RU" sz="2000">
                        <a:effectLst/>
                      </a:endParaRP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!(x==3)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true</a:t>
                      </a:r>
                      <a:endParaRPr lang="en-US" sz="2000" dirty="0">
                        <a:effectLst/>
                      </a:endParaRP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039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7638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456389-1286-462C-9813-9365F0326E9D}"/>
              </a:ext>
            </a:extLst>
          </p:cNvPr>
          <p:cNvSpPr/>
          <p:nvPr/>
        </p:nvSpPr>
        <p:spPr>
          <a:xfrm>
            <a:off x="3440499" y="81493"/>
            <a:ext cx="531100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Условные конструкции</a:t>
            </a:r>
            <a:endParaRPr lang="en-US" sz="4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329851" y="789379"/>
            <a:ext cx="11736887" cy="57554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Позволяют изменить стандартную очередность выполнения команд</a:t>
            </a: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(по умолчанию команды исполняются поочередно сверху вниз).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конструкция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if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используйте данную конструкцию если хотите, чтобы блок команд был выполнен только если указанное условие истинно;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конструкция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if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..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else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используйте данную конструкцию если хотите, чтобы один блок команд был выполнен если указанное условие истинно и другой блок команд если условие ложно;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конструкция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if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..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else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if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..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else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используйте данную конструкцию если хотите, чтобы при определенном условии команды выполнились только в одном из нескольких блоков;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	Альтернатива записи 	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(условие)?команды1:команды2</a:t>
            </a:r>
          </a:p>
          <a:p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ru-RU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a=20;  </a:t>
            </a:r>
            <a:r>
              <a:rPr lang="ru-RU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b=44;</a:t>
            </a:r>
          </a:p>
          <a:p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//Если да, то переменной с будет присвоено 10, а если нет – 20.</a:t>
            </a:r>
          </a:p>
          <a:p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ru-RU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c=(a&gt;b)?10:20;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конструкция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switch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используйте данную конструкцию если хотите, чтобы при определенном условии команды выполнились только в одном из нескольких блоков;</a:t>
            </a:r>
            <a:endParaRPr lang="it-IT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974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456389-1286-462C-9813-9365F0326E9D}"/>
              </a:ext>
            </a:extLst>
          </p:cNvPr>
          <p:cNvSpPr/>
          <p:nvPr/>
        </p:nvSpPr>
        <p:spPr>
          <a:xfrm>
            <a:off x="3788320" y="81493"/>
            <a:ext cx="461536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Всплывающие окна</a:t>
            </a:r>
            <a:endParaRPr lang="en-US" sz="4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290187" y="751344"/>
            <a:ext cx="11421649" cy="535531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Окна оповещения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используются в случаях, когда необходимо, чтобы пользователь обязательно обратил внимание на определенную информацию</a:t>
            </a:r>
          </a:p>
          <a:p>
            <a:pPr>
              <a:spcBef>
                <a:spcPts val="1200"/>
              </a:spcBef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it-IT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alert("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Текст окна оповещения");</a:t>
            </a:r>
          </a:p>
          <a:p>
            <a:endParaRPr lang="ru-RU" sz="15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Окна подтверждения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используются в случаях когда необходимо, чтобы пользователь подтвердил или отклонил что-либо. Если пользователь нажмет "OK" вернется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(истина), если пользователь нажмет "Отмена" вернется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(ложь).</a:t>
            </a:r>
          </a:p>
          <a:p>
            <a:pPr>
              <a:spcBef>
                <a:spcPts val="1200"/>
              </a:spcBef>
            </a:pP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x=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confirm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("Текст окна подтверждения");</a:t>
            </a:r>
          </a:p>
          <a:p>
            <a:endParaRPr lang="ru-RU" sz="15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Окна запроса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используются в случаях, когда от пользователя необходимо получить определенную информацию. Если пользователь введет что-либо в окно и нажмет "OK" будет возвращено введенное пользователем значение, если пользователь нажмет "Отмена", то будет возвращено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Bef>
                <a:spcPts val="1200"/>
              </a:spcBef>
            </a:pP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x=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prompt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("Текст окна запроса", "Заполнитель поля ввода");</a:t>
            </a:r>
          </a:p>
        </p:txBody>
      </p:sp>
    </p:spTree>
    <p:extLst>
      <p:ext uri="{BB962C8B-B14F-4D97-AF65-F5344CB8AC3E}">
        <p14:creationId xmlns:p14="http://schemas.microsoft.com/office/powerpoint/2010/main" val="3773673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307932" y="240080"/>
            <a:ext cx="11576136" cy="49244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Пример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script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javascript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'&gt;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//Данная функция будет вызвана после полной загрузки страницы</a:t>
            </a:r>
          </a:p>
          <a:p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popBox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//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Выведим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окно запроса и сохраним возвращенное значение в переменную ex1 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ex1=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prompt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('Введите Ваше имя:', 'Дмитрий');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//Отобразим имя введенное пользователем в окно запроса на страницу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('Ваше имя: ' + ex1);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script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ru-RU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Результат</a:t>
            </a:r>
            <a:endParaRPr lang="it-IT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94ECEDB-BE19-4808-836A-5D9CBABEB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639" y="4688165"/>
            <a:ext cx="7210115" cy="173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73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456389-1286-462C-9813-9365F0326E9D}"/>
              </a:ext>
            </a:extLst>
          </p:cNvPr>
          <p:cNvSpPr/>
          <p:nvPr/>
        </p:nvSpPr>
        <p:spPr>
          <a:xfrm>
            <a:off x="4999390" y="81493"/>
            <a:ext cx="21932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Функции</a:t>
            </a:r>
            <a:endParaRPr lang="en-US" sz="4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227556" y="878907"/>
            <a:ext cx="11736887" cy="569386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Функции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состоят из набора команд и обычно выполняют какую-то одну определенную задачу</a:t>
            </a:r>
          </a:p>
          <a:p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Объявление функции</a:t>
            </a: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1)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имяФункции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(пер1, пер2){Код функции	}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2) 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имяфункции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function(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пер1, пер2){Код функции}	</a:t>
            </a:r>
          </a:p>
          <a:p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Вызов функции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имяФункции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(пер1,пер2);</a:t>
            </a:r>
          </a:p>
          <a:p>
            <a:endParaRPr lang="ru-RU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Все манипуляции над переменными внутри функций на самом деле производятся не над самими переменными а над их копией, поэтому содержимое самих переменных в результате выполнения функций не изменяется.</a:t>
            </a:r>
          </a:p>
          <a:p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Команда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return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возвращает из функций значения.</a:t>
            </a:r>
          </a:p>
          <a:p>
            <a:endParaRPr lang="it-IT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879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359079" y="343540"/>
            <a:ext cx="11473842" cy="61709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Пример</a:t>
            </a: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Зададим функцию, которая прибавляет к переданной переменной 10 и выводит результат на страницу 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plus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{a=a+10;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	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('Вывод функции: ' + a+'&lt;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/&gt;’);}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a=25;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('Значение переменной до вызова функции:'+a+'&lt;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/&gt;');</a:t>
            </a: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Вызовем функцию передав ей в качестве аргумента переменную a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plus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('Значение переменной после вызова функции: 		'+a+'&lt;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/&gt;’);</a:t>
            </a:r>
          </a:p>
          <a:p>
            <a:endParaRPr lang="ru-RU" sz="1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Результат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Значение переменной до вызова функции: 25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Вывод функции: 35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Значение переменной после вызова функции: 25</a:t>
            </a:r>
            <a:endParaRPr lang="it-IT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433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359079" y="343540"/>
            <a:ext cx="11473842" cy="59400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Чтобы обращаться к глобальной переменной из функции, а не ее копии используйте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window.имя_переменной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Пример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plus(a){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window.a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=a+10;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a=25;</a:t>
            </a:r>
          </a:p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Значение переменной до вызова функции: '+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a+'&lt;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/&gt;');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plus(a);</a:t>
            </a:r>
          </a:p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Значение переменной после вызова функции: '+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a+'&lt;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/&gt;’);</a:t>
            </a:r>
            <a:endParaRPr lang="ru-RU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Результат</a:t>
            </a:r>
          </a:p>
          <a:p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Значение переменной до вызова функции: 25</a:t>
            </a: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Значение переменной после вызова функции: 35</a:t>
            </a:r>
            <a:endParaRPr lang="it-IT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892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456389-1286-462C-9813-9365F0326E9D}"/>
              </a:ext>
            </a:extLst>
          </p:cNvPr>
          <p:cNvSpPr/>
          <p:nvPr/>
        </p:nvSpPr>
        <p:spPr>
          <a:xfrm>
            <a:off x="5248657" y="81493"/>
            <a:ext cx="16946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Циклы</a:t>
            </a:r>
            <a:endParaRPr lang="en-US" sz="4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227556" y="640913"/>
            <a:ext cx="11736887" cy="52014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Цикл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- это блок команд, который может повторно выполняться пока определенное условие не будет выполнено.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Цикл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for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исполняет блок команд пока заданное условие является истинным.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(блок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определения;условие;блок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изменения) {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	//Блок команд, который будет повторно выполняться пока условие 	истинно	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Цикл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while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выполняет блок кода, пока заданное условие истинно.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(условие) {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	//Блок команд, который будет повторно выполняться если условие 	истинно	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Цикл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do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..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while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часто называют циклом с постусловием, потому что в отличие от предыдущих циклов он вначале исполняет блок команд и только потом проверяет заданное условие.</a:t>
            </a:r>
          </a:p>
          <a:p>
            <a:endParaRPr lang="it-IT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842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340291" y="320456"/>
            <a:ext cx="11133550" cy="443198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  	//Блок команд, который будет выполнен больше 	//одного раза если 	условие истинно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 }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(условие);</a:t>
            </a:r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	С помощью команды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break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можно досрочно "обрывать" выполнение цикла.</a:t>
            </a: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	Команда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continue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обрывает текущую итерацию выполнения цикла и 	переходит к следующей.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Цикл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for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..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in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используется для перебора массивов или объектов.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(переменная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объект_или_массив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	//Код, который будет выполнен для каждого элемента массива 	или свойства объекта 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it-IT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130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456389-1286-462C-9813-9365F0326E9D}"/>
              </a:ext>
            </a:extLst>
          </p:cNvPr>
          <p:cNvSpPr/>
          <p:nvPr/>
        </p:nvSpPr>
        <p:spPr>
          <a:xfrm>
            <a:off x="5041062" y="0"/>
            <a:ext cx="210987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События</a:t>
            </a:r>
            <a:endParaRPr lang="en-US" sz="4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227556" y="640913"/>
            <a:ext cx="11736887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События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- это функции, которые могут быть привязаны к элементам HTML страниц.</a:t>
            </a: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Код событий выполнится только после того, как произойдет их активирующее действие.</a:t>
            </a:r>
          </a:p>
          <a:p>
            <a:endParaRPr lang="ru-RU" sz="2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Примеры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активирующих действий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Щелчок мыши (событие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onclick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Нажатие клавиши (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onkeypress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Отправление формы (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onsubmit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Наведение курсора мыши на элемент (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onmouseover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) или выведение курсора мыши за пределы границ элемента (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onmouseout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Полная загрузка страницы или картинки (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onload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Изменение содержимого элемента, например содержимого текстового поля формы (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onchange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76553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503130" y="277659"/>
            <a:ext cx="10895556" cy="569386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Пример</a:t>
            </a: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Щелчок мыши (событие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onclick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&lt;html&gt;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&lt;script type='text/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javascript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’&gt;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messageShow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Вы нажали на кнопку!’);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&lt;/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script&gt;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type='button' value='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Нажмите на кнопку’ 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onclick='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messageShow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()’/&gt;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  <a:endParaRPr lang="ru-RU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Результат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3B68A2A-B22E-45E7-AF69-2F894BB6A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30" y="5858790"/>
            <a:ext cx="3750363" cy="83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48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465552" y="89624"/>
            <a:ext cx="10895556" cy="667875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Пример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&lt;style type='text/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'&gt;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color:white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&lt;/style&gt;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&lt;script type='text/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javascript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'&gt;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textChange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').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style.backgroundColor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='green';}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textReturn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').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style.color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='white';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').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style.backgroundColor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='blue';}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&lt;/script&gt;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&lt;p id='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onmouseover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textChange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()'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onmouseout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textReturn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()'&gt;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Наведите на этот текст курсор мыши.&lt;/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p&gt;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DA69F0-952E-4A1E-83D7-218F02B2F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214" y="272832"/>
            <a:ext cx="5934434" cy="67914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8FE3175-492F-49F1-9661-78CD01CC06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214" y="951977"/>
            <a:ext cx="5965732" cy="58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30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456389-1286-462C-9813-9365F0326E9D}"/>
              </a:ext>
            </a:extLst>
          </p:cNvPr>
          <p:cNvSpPr/>
          <p:nvPr/>
        </p:nvSpPr>
        <p:spPr>
          <a:xfrm>
            <a:off x="5086749" y="0"/>
            <a:ext cx="20185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Ошибки</a:t>
            </a:r>
            <a:endParaRPr lang="en-US" sz="4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363255" y="640913"/>
            <a:ext cx="11601188" cy="57246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Выражение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try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..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catch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позволяет проверять участки кода на наличие ошибок.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Блок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try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содержит код, который проверяется на ошибки.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Блок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catch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содержит код, который будет выполнен если в блоке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try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будет найдена ошибка.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{//Код, который проверяется на наличие ошибок}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(ошибка) {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	//Код, который будет выполнен если в блоке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были найдены 	ошибки	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Ошибка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содержит пояснение к ошибке найденной в блоке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try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(если ошибка не была найдена переменная останется пустой)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Блок </a:t>
            </a:r>
            <a:r>
              <a:rPr lang="en-US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finally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является необязательной частью конструкции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try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..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catch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. Код в данном блоке будет выполнен независимо от того были ли найдена ошибка в блоке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try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или нет.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Команда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throw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используется для создания собственных пояснений к возможным ошибкам.</a:t>
            </a:r>
          </a:p>
        </p:txBody>
      </p:sp>
    </p:spTree>
    <p:extLst>
      <p:ext uri="{BB962C8B-B14F-4D97-AF65-F5344CB8AC3E}">
        <p14:creationId xmlns:p14="http://schemas.microsoft.com/office/powerpoint/2010/main" val="2405003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427974" y="120402"/>
            <a:ext cx="10895556" cy="63401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Пример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f=prompt('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Введите число от 1 до 5: ','');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try  {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if (f&gt;5) {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throw '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Число которые Вы ввели больше 5';</a:t>
            </a:r>
          </a:p>
          <a:p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(f&lt;1) {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throw '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Число которое Вы ввели меньше 1';</a:t>
            </a:r>
          </a:p>
          <a:p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isNaN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(f)) {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throw '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То, что Вы ввели не является числом';</a:t>
            </a:r>
          </a:p>
          <a:p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{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Вы ввели: ' + 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f);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catch (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ru-RU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6CE3486-6415-4DA3-9AD7-9FBABBA0F192}"/>
              </a:ext>
            </a:extLst>
          </p:cNvPr>
          <p:cNvSpPr/>
          <p:nvPr/>
        </p:nvSpPr>
        <p:spPr>
          <a:xfrm>
            <a:off x="7271408" y="5905537"/>
            <a:ext cx="461838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То, что Вы ввели не является числом</a:t>
            </a:r>
            <a:endParaRPr lang="ru-RU" sz="22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C62202A-551F-43D2-A094-532934194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144" y="4215595"/>
            <a:ext cx="4977644" cy="1521326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5ECC10C-8E5D-4811-AE5B-6D5D84FFB69D}"/>
              </a:ext>
            </a:extLst>
          </p:cNvPr>
          <p:cNvSpPr/>
          <p:nvPr/>
        </p:nvSpPr>
        <p:spPr>
          <a:xfrm>
            <a:off x="10435906" y="3616092"/>
            <a:ext cx="132812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Результат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498184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456389-1286-462C-9813-9365F0326E9D}"/>
              </a:ext>
            </a:extLst>
          </p:cNvPr>
          <p:cNvSpPr/>
          <p:nvPr/>
        </p:nvSpPr>
        <p:spPr>
          <a:xfrm>
            <a:off x="2251774" y="0"/>
            <a:ext cx="768845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Выполнение кода по расписанию</a:t>
            </a:r>
            <a:endParaRPr lang="en-US" sz="4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363255" y="640913"/>
            <a:ext cx="11601188" cy="538609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код может выполняться по расписанию например, через 30 секунд после вызова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функции.</a:t>
            </a:r>
          </a:p>
          <a:p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Для выполнения кода по расписанию предусмотрено два специальных метода:</a:t>
            </a:r>
          </a:p>
          <a:p>
            <a:pPr marL="363538" indent="-363538">
              <a:buFont typeface="Arial" panose="020B0604020202020204" pitchFamily="34" charset="0"/>
              <a:buChar char="•"/>
            </a:pP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setTimeout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код,промежуток_времени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) позволяет выполнить код через заданный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промежуток_времени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один раз.</a:t>
            </a:r>
          </a:p>
          <a:p>
            <a:pPr marL="363538" indent="-363538">
              <a:buFont typeface="Arial" panose="020B0604020202020204" pitchFamily="34" charset="0"/>
              <a:buChar char="•"/>
            </a:pP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setInterval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код,промежуток_времени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) позволяет выполнять код через заданный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промежуток_времени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бесконечное количество раз</a:t>
            </a:r>
          </a:p>
          <a:p>
            <a:pPr marL="363538" indent="-363538">
              <a:buFont typeface="Arial" panose="020B0604020202020204" pitchFamily="34" charset="0"/>
              <a:buChar char="•"/>
            </a:pPr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Методы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setTimeout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() и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setInterval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() после их запуска возвращают </a:t>
            </a: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идентификатор вызова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. Используя этот идентификатор и методы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clearTimeout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() и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clearInterval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() можно остановить выполнение кода, вызванного по расписанию.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С помощью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clearTimeout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идентификатор_вызова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) можно остановить выполнение кода, вызванного методом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setTimeout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4017699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352818" y="157980"/>
            <a:ext cx="11534382" cy="649408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Пример</a:t>
            </a:r>
          </a:p>
          <a:p>
            <a:pPr>
              <a:spcBef>
                <a:spcPts val="12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&lt;body onload='start()'&gt;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&lt;p id='text1'&gt;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Здесь будет отображено текущее время&lt;/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p&gt;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&lt;script type=text/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javascript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Зададим функцию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time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которая будет выводить текущее время в абзац с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id=text1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time()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//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Определим текущее время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Date();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hour=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dat.getHours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min=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dat.getMinutes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sec=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dat.getSeconds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=hour+':'+min+':'+sec;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//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Выведем текущее время в абзац с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id=text1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('text1').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innerHTML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Функция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start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будет запущена после полной загрузки документа и будет вызывать функцию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time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через каждую секунду */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start()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id=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setInterval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('time()',1000);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Результат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&lt;/script&gt;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E66D816-845A-41BD-BB35-2F9EF8D11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3237" y="5776160"/>
            <a:ext cx="1526932" cy="74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11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456389-1286-462C-9813-9365F0326E9D}"/>
              </a:ext>
            </a:extLst>
          </p:cNvPr>
          <p:cNvSpPr/>
          <p:nvPr/>
        </p:nvSpPr>
        <p:spPr>
          <a:xfrm>
            <a:off x="3193378" y="0"/>
            <a:ext cx="580524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Специальные операторы</a:t>
            </a:r>
            <a:endParaRPr lang="en-US" sz="4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295405" y="707886"/>
            <a:ext cx="11601188" cy="55861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Оператор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delete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удаляет указанный элемент.</a:t>
            </a: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	Оператор возвращает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если удаление указанного элемента прошло 	успешно, и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если нет.</a:t>
            </a: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	Оператор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не может удалить, переменную объявленную, с помощью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ru-RU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//Создадим массив, содержащий 4 элемента и выведем его содержимое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g=new Array("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Яблоко","Груша","Мешок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с деньгами", "Лимон");</a:t>
            </a:r>
          </a:p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(g+"&lt;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/&gt;");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Удалим 3й элемент массива и выведем его содержимое после операции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 g[2];</a:t>
            </a:r>
          </a:p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(g);</a:t>
            </a:r>
            <a:endParaRPr lang="ru-RU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						Результат</a:t>
            </a:r>
          </a:p>
          <a:p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Яблоко,Груша,Мешок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с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деньгами,Лимон</a:t>
            </a:r>
            <a:endParaRPr lang="ru-RU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Яблоко,Груша,,Лимон</a:t>
            </a:r>
            <a:endParaRPr lang="ru-RU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361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295405" y="640541"/>
            <a:ext cx="11601188" cy="535531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Оператор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in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определяет, имеется ли произвольное свойство у указанного объекта или массива.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//Создадим массив содержащий 3 элемента и выведем его содержимое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g=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Яблоко","Груша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"Лимон");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//Проверим имеется ли у массива 2ой элемент</a:t>
            </a:r>
          </a:p>
          <a:p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g);							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Результат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						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Оператор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instanceof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сверяет тип объекта с переданным значением. 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//Создадим массив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g=new Array("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Яблоко","Груша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"Лимон");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//Создадим строку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=new String("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Привет мир.");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//Проверим является ли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 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массивом</a:t>
            </a:r>
          </a:p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(g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Array);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					Результат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						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660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295406" y="219371"/>
            <a:ext cx="11601188" cy="64171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Оператор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typeof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возвращает тип указанного объекта.</a:t>
            </a:r>
          </a:p>
          <a:p>
            <a:endParaRPr lang="ru-RU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//Создадим объект 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fio</a:t>
            </a:r>
            <a:endParaRPr lang="en-US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fio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={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familiya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:'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Васильев',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imya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:'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Дмитрий',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otchestvo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:'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Владимирович'};</a:t>
            </a:r>
          </a:p>
          <a:p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//Зададим функцию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test(){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0;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Зададим число</a:t>
            </a:r>
          </a:p>
          <a:p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g=120;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Выведем тип объекта 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fio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на страницу</a:t>
            </a:r>
          </a:p>
          <a:p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typeof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fio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('&lt;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/&gt;');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Выведем тип объекта 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test 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на страницу				</a:t>
            </a:r>
          </a:p>
          <a:p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typeof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test);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Результат</a:t>
            </a:r>
            <a:endParaRPr lang="en-US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('&lt;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/&gt;’);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Выведем тип объекта 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g 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на страницу			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endParaRPr lang="ru-RU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typeof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g);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</a:p>
          <a:p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document.write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('&lt;</a:t>
            </a:r>
            <a:r>
              <a:rPr lang="en-US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/&gt;’);</a:t>
            </a:r>
            <a:r>
              <a:rPr lang="ru-RU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endParaRPr lang="ru-RU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494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456389-1286-462C-9813-9365F0326E9D}"/>
              </a:ext>
            </a:extLst>
          </p:cNvPr>
          <p:cNvSpPr/>
          <p:nvPr/>
        </p:nvSpPr>
        <p:spPr>
          <a:xfrm>
            <a:off x="4233214" y="0"/>
            <a:ext cx="37255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Проверка форм</a:t>
            </a:r>
            <a:endParaRPr lang="en-US" sz="4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295405" y="707886"/>
            <a:ext cx="11601188" cy="458587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Примеры проверок, которые возможно реализовать с помощью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Было ли данное поле заполнено;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В правильном ли формате пользователь указал свой адрес или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в соответствующем поле;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Совпадают ли значения введенные в два различных поля (часто используется для полей с паролем);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Не превышает ли значение введенное в поле максимально допустимую длину и т.д.</a:t>
            </a:r>
          </a:p>
          <a:p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Проверка форм в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возможна благодаря событию </a:t>
            </a:r>
            <a:r>
              <a:rPr lang="ru-RU" sz="2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onSubmit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ru-R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Если у тэга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form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атрибут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onsubmit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" форма будет отправлена на сервер, если же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onsubmit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", то форма на сервер отправлена не будет.</a:t>
            </a:r>
          </a:p>
        </p:txBody>
      </p:sp>
    </p:spTree>
    <p:extLst>
      <p:ext uri="{BB962C8B-B14F-4D97-AF65-F5344CB8AC3E}">
        <p14:creationId xmlns:p14="http://schemas.microsoft.com/office/powerpoint/2010/main" val="38605558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44EDD6-D04A-4ACF-9B35-77FC72451323}"/>
              </a:ext>
            </a:extLst>
          </p:cNvPr>
          <p:cNvSpPr/>
          <p:nvPr/>
        </p:nvSpPr>
        <p:spPr>
          <a:xfrm>
            <a:off x="295406" y="181792"/>
            <a:ext cx="11601188" cy="66018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Пример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&lt;script type="text/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javascript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validate(){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//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Считаем значения из полей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email 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в переменные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</a:p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y=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document.forms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["form"]["email"].value;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Если поле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email 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пустое выведем сообщение и предотвратим отправку формы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y.length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==0){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emailf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innerHTML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="*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данное поле обязательно для 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заполнения";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 false;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//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Проверим содержит ли значение введенное в поле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email 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символы @ и .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at=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y.indexOf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("@");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dot=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y.indexOf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(".");</a:t>
            </a:r>
          </a:p>
          <a:p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endParaRPr lang="ru-RU" sz="2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1473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44EDD6-D04A-4ACF-9B35-77FC72451323}"/>
              </a:ext>
            </a:extLst>
          </p:cNvPr>
          <p:cNvSpPr/>
          <p:nvPr/>
        </p:nvSpPr>
        <p:spPr>
          <a:xfrm>
            <a:off x="283292" y="236059"/>
            <a:ext cx="11625415" cy="65248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Если поле не содержит эти символы </a:t>
            </a:r>
            <a:r>
              <a:rPr lang="ru-RU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знач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email 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введен не верно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(at&lt;1 || dot &lt;1){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emailf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innerHTML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="*email </a:t>
            </a:r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введен не верно";</a:t>
            </a:r>
          </a:p>
          <a:p>
            <a:r>
              <a:rPr lang="ru-RU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 false;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									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&lt;/script&gt;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&lt;form name="form" </a:t>
            </a:r>
            <a:r>
              <a:rPr lang="en-US" sz="2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onsubmit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="return validate()"&gt;</a:t>
            </a:r>
          </a:p>
          <a:p>
            <a:r>
              <a:rPr lang="ru-RU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Имя: &lt;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 type="text" name="name"&gt; &lt;span style="</a:t>
            </a:r>
            <a:r>
              <a:rPr lang="en-US" sz="2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color:red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id="</a:t>
            </a:r>
            <a:r>
              <a:rPr lang="en-US" sz="2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namef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"&gt;&lt;/span&gt;&lt;</a:t>
            </a:r>
            <a:r>
              <a:rPr lang="en-US" sz="2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/&gt;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e-mail: &lt;input type="text" name="email"&gt; &lt;span style="</a:t>
            </a:r>
            <a:r>
              <a:rPr lang="en-US" sz="2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color:red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id="</a:t>
            </a:r>
            <a:r>
              <a:rPr lang="en-US" sz="2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emailf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"&gt;&lt;/span&gt;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/&gt;&lt;input type="submit" value="</a:t>
            </a:r>
            <a:r>
              <a:rPr lang="ru-RU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Отправить форму"&gt;   </a:t>
            </a:r>
          </a:p>
          <a:p>
            <a:r>
              <a:rPr lang="ru-RU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form&gt;	</a:t>
            </a:r>
            <a:r>
              <a:rPr lang="ru-RU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Результат</a:t>
            </a:r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&lt;/body&gt;									    </a:t>
            </a:r>
          </a:p>
          <a:p>
            <a:r>
              <a:rPr lang="en-US" sz="2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6696940-E22B-4DB3-8B62-A2D7152C5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694" y="6037946"/>
            <a:ext cx="7555890" cy="69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0978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456389-1286-462C-9813-9365F0326E9D}"/>
              </a:ext>
            </a:extLst>
          </p:cNvPr>
          <p:cNvSpPr/>
          <p:nvPr/>
        </p:nvSpPr>
        <p:spPr>
          <a:xfrm>
            <a:off x="2452661" y="152251"/>
            <a:ext cx="728667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Вставка специальных символов</a:t>
            </a:r>
            <a:endParaRPr lang="en-US" sz="4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B44C07-3783-4CF3-9B78-FD00DD0799C7}"/>
              </a:ext>
            </a:extLst>
          </p:cNvPr>
          <p:cNvSpPr/>
          <p:nvPr/>
        </p:nvSpPr>
        <p:spPr>
          <a:xfrm>
            <a:off x="295405" y="891287"/>
            <a:ext cx="1160118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В таблице ниже содержатся специальные символы, которые присутствуют в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8B3A8B86-E21B-45F0-B7BE-A1EEFEF09F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783981"/>
              </p:ext>
            </p:extLst>
          </p:nvPr>
        </p:nvGraphicFramePr>
        <p:xfrm>
          <a:off x="628976" y="1844129"/>
          <a:ext cx="10769709" cy="37147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53942">
                  <a:extLst>
                    <a:ext uri="{9D8B030D-6E8A-4147-A177-3AD203B41FA5}">
                      <a16:colId xmlns:a16="http://schemas.microsoft.com/office/drawing/2014/main" val="2367758000"/>
                    </a:ext>
                  </a:extLst>
                </a:gridCol>
                <a:gridCol w="8615767">
                  <a:extLst>
                    <a:ext uri="{9D8B030D-6E8A-4147-A177-3AD203B41FA5}">
                      <a16:colId xmlns:a16="http://schemas.microsoft.com/office/drawing/2014/main" val="20835646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sz="2500" dirty="0">
                          <a:effectLst/>
                        </a:rPr>
                        <a:t>Код спецсимвола</a:t>
                      </a:r>
                      <a:endParaRPr lang="ru-RU" sz="25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500" dirty="0">
                          <a:effectLst/>
                        </a:rPr>
                        <a:t>Пояснение</a:t>
                      </a:r>
                      <a:endParaRPr lang="ru-RU" sz="25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83174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</a:rPr>
                        <a:t>\n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ru-RU" sz="2500" dirty="0">
                          <a:effectLst/>
                        </a:rPr>
                        <a:t>Перевод строки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533922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500">
                          <a:effectLst/>
                        </a:rPr>
                        <a:t>\\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ru-RU" sz="2500" dirty="0">
                          <a:effectLst/>
                        </a:rPr>
                        <a:t>Обратный </a:t>
                      </a:r>
                      <a:r>
                        <a:rPr lang="ru-RU" sz="2500" dirty="0" err="1">
                          <a:effectLst/>
                        </a:rPr>
                        <a:t>слэш</a:t>
                      </a:r>
                      <a:endParaRPr lang="ru-RU" sz="250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926820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500">
                          <a:effectLst/>
                        </a:rPr>
                        <a:t>\t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ru-RU" sz="2500" dirty="0">
                          <a:effectLst/>
                        </a:rPr>
                        <a:t>Табуляция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245571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500">
                          <a:effectLst/>
                        </a:rPr>
                        <a:t>\'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ru-RU" sz="2500" dirty="0">
                          <a:effectLst/>
                        </a:rPr>
                        <a:t>Одиночная кавычка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104439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500">
                          <a:effectLst/>
                        </a:rPr>
                        <a:t>\"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ru-RU" sz="2500" dirty="0">
                          <a:effectLst/>
                        </a:rPr>
                        <a:t>Двойная кавычка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363556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500">
                          <a:effectLst/>
                        </a:rPr>
                        <a:t>\&amp;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ru-RU" sz="2500" dirty="0">
                          <a:effectLst/>
                        </a:rPr>
                        <a:t>Амперсанд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676607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43905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1478</TotalTime>
  <Words>2274</Words>
  <Application>Microsoft Office PowerPoint</Application>
  <PresentationFormat>Широкоэкранный</PresentationFormat>
  <Paragraphs>519</Paragraphs>
  <Slides>32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Courier New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denis</dc:creator>
  <cp:lastModifiedBy>ndg</cp:lastModifiedBy>
  <cp:revision>241</cp:revision>
  <dcterms:created xsi:type="dcterms:W3CDTF">2017-10-24T23:13:50Z</dcterms:created>
  <dcterms:modified xsi:type="dcterms:W3CDTF">2022-03-03T05:04:26Z</dcterms:modified>
</cp:coreProperties>
</file>